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Helvetica Neue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gB8S1Q/5jjZt4I1Ci/jQNQLdMp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DD0A52-1A9F-41AB-BF9E-297F6123B2A6}">
  <a:tblStyle styleId="{16DD0A52-1A9F-41AB-BF9E-297F6123B2A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HelveticaNeue-bold.fntdata"/><Relationship Id="rId25" Type="http://schemas.openxmlformats.org/officeDocument/2006/relationships/font" Target="fonts/HelveticaNeue-regular.fntdata"/><Relationship Id="rId28" Type="http://schemas.openxmlformats.org/officeDocument/2006/relationships/font" Target="fonts/HelveticaNeue-boldItalic.fntdata"/><Relationship Id="rId27" Type="http://schemas.openxmlformats.org/officeDocument/2006/relationships/font" Target="fonts/HelveticaNeue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86a0f8dc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g386a0f8dc9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6a0f8dc9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3" name="Google Shape;63;g386a0f8dc9d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6a0f8dc9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3" name="Google Shape;73;g386a0f8dc9d_0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6a0f8dc9d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1" name="Google Shape;81;g386a0f8dc9d_0_1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6a0f8dc9d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115" name="Google Shape;115;g386a0f8dc9d_0_2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6a0f8dc9d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1" name="Google Shape;121;g386a0f8dc9d_0_2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6a0f8dc9d_0_2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86a0f8dc9d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6a0f8dc9d_0_3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86a0f8dc9d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6a0f8dc9d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1" name="Google Shape;141;g386a0f8dc9d_0_3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6a0f8dc9d_0_3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86a0f8dc9d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6a0f8dc9d_0_3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86a0f8dc9d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6a0f8dc9d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2" name="Google Shape;162;g386a0f8dc9d_0_4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6a0f8dc9d_0_4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86a0f8dc9d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dc2ff7cab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dc2ff7cab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bdc2ff7cab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6a0f8dc9d_0_4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86a0f8dc9d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6a0f8dc9d_0_4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86a0f8dc9d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6a0f8dc9d_0_5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86a0f8dc9d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6a0f8dc9d_0_2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86a0f8dc9d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3969582" y="1597819"/>
            <a:ext cx="4488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3124200" y="2914650"/>
            <a:ext cx="53340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536953"/>
            <a:ext cx="8229600" cy="30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175610"/>
            <a:ext cx="1832900" cy="30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457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2"/>
          <p:cNvSpPr txBox="1"/>
          <p:nvPr>
            <p:ph idx="2" type="body"/>
          </p:nvPr>
        </p:nvSpPr>
        <p:spPr>
          <a:xfrm>
            <a:off x="4648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/>
          <p:nvPr>
            <p:ph type="title"/>
          </p:nvPr>
        </p:nvSpPr>
        <p:spPr>
          <a:xfrm>
            <a:off x="457200" y="2175487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800226"/>
            <a:ext cx="3008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3575050" y="805290"/>
            <a:ext cx="51117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1352888"/>
            <a:ext cx="3008400" cy="3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457200" y="897323"/>
            <a:ext cx="2573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/>
          <p:nvPr>
            <p:ph idx="2" type="pic"/>
          </p:nvPr>
        </p:nvSpPr>
        <p:spPr>
          <a:xfrm>
            <a:off x="3200400" y="897322"/>
            <a:ext cx="5486400" cy="3637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5"/>
          <p:cNvSpPr txBox="1"/>
          <p:nvPr>
            <p:ph idx="1" type="body"/>
          </p:nvPr>
        </p:nvSpPr>
        <p:spPr>
          <a:xfrm>
            <a:off x="457200" y="1326032"/>
            <a:ext cx="2573700" cy="3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6a0f8dc9d_0_0"/>
          <p:cNvSpPr txBox="1"/>
          <p:nvPr>
            <p:ph type="ctrTitle"/>
          </p:nvPr>
        </p:nvSpPr>
        <p:spPr>
          <a:xfrm>
            <a:off x="1619250" y="2860969"/>
            <a:ext cx="7302600" cy="17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60: RADIAN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/>
              <a:t>Bi-Weekly Update 2</a:t>
            </a:r>
            <a:br>
              <a:rPr lang="en-US"/>
            </a:br>
            <a:r>
              <a:rPr lang="en-US" sz="2455"/>
              <a:t>Matthew Blackwell, Mitchell Hoffman, Wyatt Johnson</a:t>
            </a:r>
            <a:br>
              <a:rPr lang="en-US" sz="2455"/>
            </a:br>
            <a:r>
              <a:rPr lang="en-US" sz="2455"/>
              <a:t>Sponsor: Dr. Arya Menon</a:t>
            </a:r>
            <a:br>
              <a:rPr lang="en-US" sz="2455"/>
            </a:br>
            <a:r>
              <a:rPr lang="en-US" sz="2455"/>
              <a:t>TA: Manoj Kumar Balamurugan</a:t>
            </a:r>
            <a:br>
              <a:rPr lang="en-US" sz="2455"/>
            </a:br>
            <a:endParaRPr sz="2455"/>
          </a:p>
        </p:txBody>
      </p:sp>
      <p:sp>
        <p:nvSpPr>
          <p:cNvPr id="59" name="Google Shape;59;g386a0f8dc9d_0_0"/>
          <p:cNvSpPr/>
          <p:nvPr/>
        </p:nvSpPr>
        <p:spPr>
          <a:xfrm>
            <a:off x="0" y="0"/>
            <a:ext cx="4772700" cy="45837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g386a0f8dc9d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828989"/>
            <a:ext cx="2335650" cy="394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g386a0f8dc9d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625" y="3730450"/>
            <a:ext cx="1214510" cy="141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g386a0f8dc9d_0_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5412" y="3730450"/>
            <a:ext cx="1433195" cy="14268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386a0f8dc9d_0_51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68" name="Google Shape;68;g386a0f8dc9d_0_51"/>
          <p:cNvSpPr txBox="1"/>
          <p:nvPr>
            <p:ph idx="1" type="body"/>
          </p:nvPr>
        </p:nvSpPr>
        <p:spPr>
          <a:xfrm>
            <a:off x="297000" y="1424225"/>
            <a:ext cx="85500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Falls are the leading cause of injury in elderly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100"/>
              <a:t>F</a:t>
            </a:r>
            <a:r>
              <a:rPr lang="en-US" sz="2200"/>
              <a:t>ast </a:t>
            </a:r>
            <a:r>
              <a:rPr lang="en-US" sz="2100"/>
              <a:t>d</a:t>
            </a:r>
            <a:r>
              <a:rPr lang="en-US" sz="2200"/>
              <a:t>etection saves lives through quick response</a:t>
            </a:r>
            <a:endParaRPr sz="2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Current Solutions - Limitations:</a:t>
            </a:r>
            <a:endParaRPr b="1"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Wearables → must be worn and charged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Push-buttons → user must be conscious/able to press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Camera → effective but invade privacy</a:t>
            </a:r>
            <a:endParaRPr sz="2200"/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g386a0f8dc9d_0_5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0" name="Google Shape;70;g386a0f8dc9d_0_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3851" y="3550826"/>
            <a:ext cx="1592674" cy="159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g386a0f8dc9d_0_105" title="Concept Image.png"/>
          <p:cNvPicPr preferRelativeResize="0"/>
          <p:nvPr/>
        </p:nvPicPr>
        <p:blipFill rotWithShape="1">
          <a:blip r:embed="rId3">
            <a:alphaModFix/>
          </a:blip>
          <a:srcRect b="20159" l="0" r="0" t="0"/>
          <a:stretch/>
        </p:blipFill>
        <p:spPr>
          <a:xfrm>
            <a:off x="-86800" y="1531185"/>
            <a:ext cx="5146800" cy="308197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86a0f8dc9d_0_105"/>
          <p:cNvSpPr txBox="1"/>
          <p:nvPr>
            <p:ph type="title"/>
          </p:nvPr>
        </p:nvSpPr>
        <p:spPr>
          <a:xfrm>
            <a:off x="3347775" y="229075"/>
            <a:ext cx="63813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lang="en-US"/>
              <a:t>RADIAN System Summary</a:t>
            </a:r>
            <a:endParaRPr/>
          </a:p>
        </p:txBody>
      </p:sp>
      <p:sp>
        <p:nvSpPr>
          <p:cNvPr id="77" name="Google Shape;77;g386a0f8dc9d_0_105"/>
          <p:cNvSpPr txBox="1"/>
          <p:nvPr>
            <p:ph idx="1" type="body"/>
          </p:nvPr>
        </p:nvSpPr>
        <p:spPr>
          <a:xfrm>
            <a:off x="4993014" y="1012425"/>
            <a:ext cx="38274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100" u="sng"/>
              <a:t>Proposed Solution:</a:t>
            </a:r>
            <a:endParaRPr b="1" sz="2100" u="sng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100" u="sng"/>
          </a:p>
          <a:p>
            <a:pPr indent="-3619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Automatic Fall Detection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Works in real time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No user action needed</a:t>
            </a:r>
            <a:endParaRPr sz="2100"/>
          </a:p>
          <a:p>
            <a:pPr indent="0" lvl="0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Privacy-Preserving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No camera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Protects independence</a:t>
            </a:r>
            <a:endParaRPr sz="2100"/>
          </a:p>
          <a:p>
            <a:pPr indent="0" lvl="0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Reliable Response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Immediate accurate alerts to caregivers</a:t>
            </a:r>
            <a:endParaRPr sz="2100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g386a0f8dc9d_0_10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6a0f8dc9d_0_157"/>
          <p:cNvSpPr txBox="1"/>
          <p:nvPr>
            <p:ph type="title"/>
          </p:nvPr>
        </p:nvSpPr>
        <p:spPr>
          <a:xfrm>
            <a:off x="457200" y="617277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i="0" lang="en-US" u="none" cap="none" strike="noStrike">
                <a:solidFill>
                  <a:schemeClr val="dk1"/>
                </a:solidFill>
              </a:rPr>
              <a:t>System</a:t>
            </a:r>
            <a:r>
              <a:rPr lang="en-US"/>
              <a:t> Overview</a:t>
            </a:r>
            <a:endParaRPr/>
          </a:p>
        </p:txBody>
      </p:sp>
      <p:sp>
        <p:nvSpPr>
          <p:cNvPr id="84" name="Google Shape;84;g386a0f8dc9d_0_15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5" name="Google Shape;85;g386a0f8dc9d_0_157"/>
          <p:cNvGrpSpPr/>
          <p:nvPr/>
        </p:nvGrpSpPr>
        <p:grpSpPr>
          <a:xfrm>
            <a:off x="1311807" y="1199657"/>
            <a:ext cx="6759553" cy="3841524"/>
            <a:chOff x="471000" y="656050"/>
            <a:chExt cx="11366325" cy="6459600"/>
          </a:xfrm>
        </p:grpSpPr>
        <p:sp>
          <p:nvSpPr>
            <p:cNvPr id="86" name="Google Shape;86;g386a0f8dc9d_0_157"/>
            <p:cNvSpPr/>
            <p:nvPr/>
          </p:nvSpPr>
          <p:spPr>
            <a:xfrm>
              <a:off x="471000" y="656050"/>
              <a:ext cx="8579100" cy="6459600"/>
            </a:xfrm>
            <a:prstGeom prst="roundRect">
              <a:avLst>
                <a:gd fmla="val 16667" name="adj"/>
              </a:avLst>
            </a:prstGeom>
            <a:solidFill>
              <a:srgbClr val="FFE599"/>
            </a:solidFill>
            <a:ln cap="flat" cmpd="sng" w="5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32"/>
            </a:p>
          </p:txBody>
        </p:sp>
        <p:sp>
          <p:nvSpPr>
            <p:cNvPr id="87" name="Google Shape;87;g386a0f8dc9d_0_157"/>
            <p:cNvSpPr/>
            <p:nvPr/>
          </p:nvSpPr>
          <p:spPr>
            <a:xfrm>
              <a:off x="802125" y="2958150"/>
              <a:ext cx="1198500" cy="1127100"/>
            </a:xfrm>
            <a:prstGeom prst="roundRect">
              <a:avLst>
                <a:gd fmla="val 16667" name="adj"/>
              </a:avLst>
            </a:prstGeom>
            <a:solidFill>
              <a:srgbClr val="FFE599"/>
            </a:solidFill>
            <a:ln cap="flat" cmpd="sng" w="5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2"/>
                <a:t>Battery</a:t>
              </a:r>
              <a:endParaRPr sz="832"/>
            </a:p>
          </p:txBody>
        </p:sp>
        <p:sp>
          <p:nvSpPr>
            <p:cNvPr id="88" name="Google Shape;88;g386a0f8dc9d_0_157"/>
            <p:cNvSpPr/>
            <p:nvPr/>
          </p:nvSpPr>
          <p:spPr>
            <a:xfrm>
              <a:off x="2590200" y="1361475"/>
              <a:ext cx="3333900" cy="4357800"/>
            </a:xfrm>
            <a:prstGeom prst="roundRect">
              <a:avLst>
                <a:gd fmla="val 16667" name="adj"/>
              </a:avLst>
            </a:prstGeom>
            <a:solidFill>
              <a:srgbClr val="FFE599"/>
            </a:solidFill>
            <a:ln cap="flat" cmpd="sng" w="5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32"/>
            </a:p>
          </p:txBody>
        </p:sp>
        <p:sp>
          <p:nvSpPr>
            <p:cNvPr id="89" name="Google Shape;89;g386a0f8dc9d_0_157"/>
            <p:cNvSpPr/>
            <p:nvPr/>
          </p:nvSpPr>
          <p:spPr>
            <a:xfrm>
              <a:off x="3053475" y="2311200"/>
              <a:ext cx="2290500" cy="947100"/>
            </a:xfrm>
            <a:prstGeom prst="rect">
              <a:avLst/>
            </a:prstGeom>
            <a:solidFill>
              <a:srgbClr val="D9EAD3"/>
            </a:solidFill>
            <a:ln cap="flat" cmpd="sng" w="5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2"/>
                <a:t>TI AWR6843</a:t>
              </a:r>
              <a:endParaRPr sz="832"/>
            </a:p>
          </p:txBody>
        </p:sp>
        <p:sp>
          <p:nvSpPr>
            <p:cNvPr id="90" name="Google Shape;90;g386a0f8dc9d_0_157"/>
            <p:cNvSpPr/>
            <p:nvPr/>
          </p:nvSpPr>
          <p:spPr>
            <a:xfrm>
              <a:off x="3085875" y="4295250"/>
              <a:ext cx="2225700" cy="947100"/>
            </a:xfrm>
            <a:prstGeom prst="rect">
              <a:avLst/>
            </a:prstGeom>
            <a:solidFill>
              <a:srgbClr val="CFE2F3"/>
            </a:solidFill>
            <a:ln cap="flat" cmpd="sng" w="5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2"/>
                <a:t>Raspberry Pi 3</a:t>
              </a:r>
              <a:endParaRPr sz="832"/>
            </a:p>
          </p:txBody>
        </p:sp>
        <p:cxnSp>
          <p:nvCxnSpPr>
            <p:cNvPr id="91" name="Google Shape;91;g386a0f8dc9d_0_157"/>
            <p:cNvCxnSpPr/>
            <p:nvPr/>
          </p:nvCxnSpPr>
          <p:spPr>
            <a:xfrm>
              <a:off x="4257150" y="3455550"/>
              <a:ext cx="0" cy="492000"/>
            </a:xfrm>
            <a:prstGeom prst="straightConnector1">
              <a:avLst/>
            </a:prstGeom>
            <a:noFill/>
            <a:ln cap="flat" cmpd="sng" w="56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2" name="Google Shape;92;g386a0f8dc9d_0_157"/>
            <p:cNvSpPr txBox="1"/>
            <p:nvPr/>
          </p:nvSpPr>
          <p:spPr>
            <a:xfrm>
              <a:off x="2822525" y="1460450"/>
              <a:ext cx="7113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4375" lIns="54375" spcFirstLastPara="1" rIns="54375" wrap="square" tIns="54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2"/>
                <a:t>PCB</a:t>
              </a:r>
              <a:endParaRPr sz="832"/>
            </a:p>
          </p:txBody>
        </p:sp>
        <p:sp>
          <p:nvSpPr>
            <p:cNvPr id="93" name="Google Shape;93;g386a0f8dc9d_0_157"/>
            <p:cNvSpPr/>
            <p:nvPr/>
          </p:nvSpPr>
          <p:spPr>
            <a:xfrm>
              <a:off x="2716200" y="5989075"/>
              <a:ext cx="3081900" cy="722400"/>
            </a:xfrm>
            <a:prstGeom prst="rect">
              <a:avLst/>
            </a:prstGeom>
            <a:solidFill>
              <a:srgbClr val="CFE2F3"/>
            </a:solidFill>
            <a:ln cap="flat" cmpd="sng" w="5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2"/>
                <a:t>AI Algorithm / Signal Processing</a:t>
              </a:r>
              <a:endParaRPr sz="832"/>
            </a:p>
          </p:txBody>
        </p:sp>
        <p:cxnSp>
          <p:nvCxnSpPr>
            <p:cNvPr id="94" name="Google Shape;94;g386a0f8dc9d_0_157"/>
            <p:cNvCxnSpPr/>
            <p:nvPr/>
          </p:nvCxnSpPr>
          <p:spPr>
            <a:xfrm rot="10800000">
              <a:off x="4198725" y="5429950"/>
              <a:ext cx="0" cy="449100"/>
            </a:xfrm>
            <a:prstGeom prst="straightConnector1">
              <a:avLst/>
            </a:prstGeom>
            <a:noFill/>
            <a:ln cap="flat" cmpd="sng" w="56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5" name="Google Shape;95;g386a0f8dc9d_0_157"/>
            <p:cNvCxnSpPr>
              <a:stCxn id="90" idx="3"/>
              <a:endCxn id="96" idx="1"/>
            </p:cNvCxnSpPr>
            <p:nvPr/>
          </p:nvCxnSpPr>
          <p:spPr>
            <a:xfrm flipH="1" rot="10800000">
              <a:off x="5311575" y="2651400"/>
              <a:ext cx="2145900" cy="2117400"/>
            </a:xfrm>
            <a:prstGeom prst="curvedConnector3">
              <a:avLst>
                <a:gd fmla="val 49997" name="adj1"/>
              </a:avLst>
            </a:prstGeom>
            <a:noFill/>
            <a:ln cap="flat" cmpd="sng" w="56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6" name="Google Shape;96;g386a0f8dc9d_0_157"/>
            <p:cNvSpPr/>
            <p:nvPr/>
          </p:nvSpPr>
          <p:spPr>
            <a:xfrm>
              <a:off x="7457625" y="2313975"/>
              <a:ext cx="1254300" cy="674700"/>
            </a:xfrm>
            <a:prstGeom prst="rect">
              <a:avLst/>
            </a:prstGeom>
            <a:solidFill>
              <a:srgbClr val="D9EAD3"/>
            </a:solidFill>
            <a:ln cap="flat" cmpd="sng" w="5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2"/>
                <a:t>Phone App</a:t>
              </a:r>
              <a:endParaRPr sz="832"/>
            </a:p>
          </p:txBody>
        </p:sp>
        <p:sp>
          <p:nvSpPr>
            <p:cNvPr id="97" name="Google Shape;97;g386a0f8dc9d_0_157"/>
            <p:cNvSpPr txBox="1"/>
            <p:nvPr/>
          </p:nvSpPr>
          <p:spPr>
            <a:xfrm rot="-5400000">
              <a:off x="4188900" y="3598425"/>
              <a:ext cx="661800" cy="3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5"/>
                <a:t>Serial (UART or USB)</a:t>
              </a:r>
              <a:endParaRPr sz="475"/>
            </a:p>
          </p:txBody>
        </p:sp>
        <p:sp>
          <p:nvSpPr>
            <p:cNvPr id="98" name="Google Shape;98;g386a0f8dc9d_0_157"/>
            <p:cNvSpPr/>
            <p:nvPr/>
          </p:nvSpPr>
          <p:spPr>
            <a:xfrm>
              <a:off x="7457625" y="3237250"/>
              <a:ext cx="1254300" cy="674700"/>
            </a:xfrm>
            <a:prstGeom prst="rect">
              <a:avLst/>
            </a:prstGeom>
            <a:solidFill>
              <a:srgbClr val="FFE599"/>
            </a:solidFill>
            <a:ln cap="flat" cmpd="sng" w="5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2"/>
                <a:t>External Alarm </a:t>
              </a:r>
              <a:endParaRPr sz="832"/>
            </a:p>
          </p:txBody>
        </p:sp>
        <p:cxnSp>
          <p:nvCxnSpPr>
            <p:cNvPr id="99" name="Google Shape;99;g386a0f8dc9d_0_157"/>
            <p:cNvCxnSpPr/>
            <p:nvPr/>
          </p:nvCxnSpPr>
          <p:spPr>
            <a:xfrm rot="10800000">
              <a:off x="3630000" y="3453450"/>
              <a:ext cx="0" cy="496200"/>
            </a:xfrm>
            <a:prstGeom prst="straightConnector1">
              <a:avLst/>
            </a:prstGeom>
            <a:noFill/>
            <a:ln cap="flat" cmpd="sng" w="5675">
              <a:solidFill>
                <a:srgbClr val="000000"/>
              </a:solidFill>
              <a:prstDash val="solid"/>
              <a:round/>
              <a:headEnd len="med" w="med" type="oval"/>
              <a:tailEnd len="med" w="med" type="stealth"/>
            </a:ln>
          </p:spPr>
        </p:cxnSp>
        <p:cxnSp>
          <p:nvCxnSpPr>
            <p:cNvPr id="100" name="Google Shape;100;g386a0f8dc9d_0_157"/>
            <p:cNvCxnSpPr/>
            <p:nvPr/>
          </p:nvCxnSpPr>
          <p:spPr>
            <a:xfrm>
              <a:off x="3718025" y="3468450"/>
              <a:ext cx="0" cy="466200"/>
            </a:xfrm>
            <a:prstGeom prst="straightConnector1">
              <a:avLst/>
            </a:prstGeom>
            <a:noFill/>
            <a:ln cap="flat" cmpd="sng" w="5675">
              <a:solidFill>
                <a:srgbClr val="000000"/>
              </a:solidFill>
              <a:prstDash val="solid"/>
              <a:round/>
              <a:headEnd len="med" w="med" type="oval"/>
              <a:tailEnd len="med" w="med" type="stealth"/>
            </a:ln>
          </p:spPr>
        </p:cxnSp>
        <p:sp>
          <p:nvSpPr>
            <p:cNvPr id="101" name="Google Shape;101;g386a0f8dc9d_0_157"/>
            <p:cNvSpPr txBox="1"/>
            <p:nvPr/>
          </p:nvSpPr>
          <p:spPr>
            <a:xfrm rot="5400000">
              <a:off x="3046150" y="3523200"/>
              <a:ext cx="661800" cy="3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375" lIns="54375" spcFirstLastPara="1" rIns="54375" wrap="square" tIns="54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5"/>
                <a:t>Watchdog Timer</a:t>
              </a:r>
              <a:endParaRPr sz="475"/>
            </a:p>
          </p:txBody>
        </p:sp>
        <p:grpSp>
          <p:nvGrpSpPr>
            <p:cNvPr id="102" name="Google Shape;102;g386a0f8dc9d_0_157"/>
            <p:cNvGrpSpPr/>
            <p:nvPr/>
          </p:nvGrpSpPr>
          <p:grpSpPr>
            <a:xfrm>
              <a:off x="9611625" y="813550"/>
              <a:ext cx="2225700" cy="1127100"/>
              <a:chOff x="8535050" y="1149975"/>
              <a:chExt cx="2225700" cy="1127100"/>
            </a:xfrm>
          </p:grpSpPr>
          <p:sp>
            <p:nvSpPr>
              <p:cNvPr id="103" name="Google Shape;103;g386a0f8dc9d_0_157"/>
              <p:cNvSpPr/>
              <p:nvPr/>
            </p:nvSpPr>
            <p:spPr>
              <a:xfrm>
                <a:off x="8535050" y="1149975"/>
                <a:ext cx="2225700" cy="1127100"/>
              </a:xfrm>
              <a:prstGeom prst="roundRect">
                <a:avLst>
                  <a:gd fmla="val 16667" name="adj"/>
                </a:avLst>
              </a:prstGeom>
              <a:solidFill>
                <a:srgbClr val="F3F3F3"/>
              </a:solidFill>
              <a:ln cap="flat" cmpd="sng" w="56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4375" lIns="54375" spcFirstLastPara="1" rIns="54375" wrap="square" tIns="54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32"/>
              </a:p>
            </p:txBody>
          </p:sp>
          <p:sp>
            <p:nvSpPr>
              <p:cNvPr id="104" name="Google Shape;104;g386a0f8dc9d_0_157"/>
              <p:cNvSpPr/>
              <p:nvPr/>
            </p:nvSpPr>
            <p:spPr>
              <a:xfrm>
                <a:off x="8681925" y="1322650"/>
                <a:ext cx="411900" cy="206100"/>
              </a:xfrm>
              <a:prstGeom prst="rect">
                <a:avLst/>
              </a:prstGeom>
              <a:solidFill>
                <a:srgbClr val="CFE2F3"/>
              </a:solidFill>
              <a:ln cap="flat" cmpd="sng" w="56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4375" lIns="54375" spcFirstLastPara="1" rIns="54375" wrap="square" tIns="54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32"/>
              </a:p>
            </p:txBody>
          </p:sp>
          <p:sp>
            <p:nvSpPr>
              <p:cNvPr id="105" name="Google Shape;105;g386a0f8dc9d_0_157"/>
              <p:cNvSpPr/>
              <p:nvPr/>
            </p:nvSpPr>
            <p:spPr>
              <a:xfrm>
                <a:off x="8681925" y="1612263"/>
                <a:ext cx="411900" cy="206100"/>
              </a:xfrm>
              <a:prstGeom prst="rect">
                <a:avLst/>
              </a:prstGeom>
              <a:solidFill>
                <a:srgbClr val="FFE599"/>
              </a:solidFill>
              <a:ln cap="flat" cmpd="sng" w="56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4375" lIns="54375" spcFirstLastPara="1" rIns="54375" wrap="square" tIns="54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32"/>
              </a:p>
            </p:txBody>
          </p:sp>
          <p:sp>
            <p:nvSpPr>
              <p:cNvPr id="106" name="Google Shape;106;g386a0f8dc9d_0_157"/>
              <p:cNvSpPr/>
              <p:nvPr/>
            </p:nvSpPr>
            <p:spPr>
              <a:xfrm>
                <a:off x="8681925" y="1901875"/>
                <a:ext cx="411900" cy="206100"/>
              </a:xfrm>
              <a:prstGeom prst="rect">
                <a:avLst/>
              </a:prstGeom>
              <a:solidFill>
                <a:srgbClr val="D9EAD3"/>
              </a:solidFill>
              <a:ln cap="flat" cmpd="sng" w="56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4375" lIns="54375" spcFirstLastPara="1" rIns="54375" wrap="square" tIns="54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32"/>
              </a:p>
            </p:txBody>
          </p:sp>
          <p:sp>
            <p:nvSpPr>
              <p:cNvPr id="107" name="Google Shape;107;g386a0f8dc9d_0_157"/>
              <p:cNvSpPr txBox="1"/>
              <p:nvPr/>
            </p:nvSpPr>
            <p:spPr>
              <a:xfrm>
                <a:off x="9203225" y="1308250"/>
                <a:ext cx="1383600" cy="23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4375" lIns="54375" spcFirstLastPara="1" rIns="54375" wrap="square" tIns="54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54"/>
                  <a:t>Matthew Blackwell</a:t>
                </a:r>
                <a:endParaRPr sz="654"/>
              </a:p>
            </p:txBody>
          </p:sp>
          <p:sp>
            <p:nvSpPr>
              <p:cNvPr id="108" name="Google Shape;108;g386a0f8dc9d_0_157"/>
              <p:cNvSpPr txBox="1"/>
              <p:nvPr/>
            </p:nvSpPr>
            <p:spPr>
              <a:xfrm>
                <a:off x="9203225" y="1597875"/>
                <a:ext cx="1383600" cy="23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4375" lIns="54375" spcFirstLastPara="1" rIns="54375" wrap="square" tIns="54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54"/>
                  <a:t>Wyatt Johnson</a:t>
                </a:r>
                <a:endParaRPr sz="654"/>
              </a:p>
            </p:txBody>
          </p:sp>
          <p:sp>
            <p:nvSpPr>
              <p:cNvPr id="109" name="Google Shape;109;g386a0f8dc9d_0_157"/>
              <p:cNvSpPr txBox="1"/>
              <p:nvPr/>
            </p:nvSpPr>
            <p:spPr>
              <a:xfrm>
                <a:off x="9203225" y="1887500"/>
                <a:ext cx="1383600" cy="23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4375" lIns="54375" spcFirstLastPara="1" rIns="54375" wrap="square" tIns="54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54"/>
                  <a:t>Mitchell Hoffman</a:t>
                </a:r>
                <a:endParaRPr sz="654"/>
              </a:p>
            </p:txBody>
          </p:sp>
        </p:grpSp>
        <p:cxnSp>
          <p:nvCxnSpPr>
            <p:cNvPr id="110" name="Google Shape;110;g386a0f8dc9d_0_157"/>
            <p:cNvCxnSpPr/>
            <p:nvPr/>
          </p:nvCxnSpPr>
          <p:spPr>
            <a:xfrm flipH="1" rot="10800000">
              <a:off x="2130050" y="3530475"/>
              <a:ext cx="366900" cy="6300"/>
            </a:xfrm>
            <a:prstGeom prst="straightConnector1">
              <a:avLst/>
            </a:prstGeom>
            <a:noFill/>
            <a:ln cap="flat" cmpd="sng" w="56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1" name="Google Shape;111;g386a0f8dc9d_0_157"/>
            <p:cNvSpPr txBox="1"/>
            <p:nvPr/>
          </p:nvSpPr>
          <p:spPr>
            <a:xfrm>
              <a:off x="864825" y="903675"/>
              <a:ext cx="33339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4375" lIns="54375" spcFirstLastPara="1" rIns="54375" wrap="square" tIns="54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2"/>
                <a:t>External Casing and Radome</a:t>
              </a:r>
              <a:endParaRPr sz="832"/>
            </a:p>
          </p:txBody>
        </p:sp>
        <p:cxnSp>
          <p:nvCxnSpPr>
            <p:cNvPr id="112" name="Google Shape;112;g386a0f8dc9d_0_157"/>
            <p:cNvCxnSpPr>
              <a:endCxn id="98" idx="1"/>
            </p:cNvCxnSpPr>
            <p:nvPr/>
          </p:nvCxnSpPr>
          <p:spPr>
            <a:xfrm flipH="1" rot="10800000">
              <a:off x="5320425" y="3574600"/>
              <a:ext cx="2137200" cy="1208400"/>
            </a:xfrm>
            <a:prstGeom prst="curvedConnector3">
              <a:avLst>
                <a:gd fmla="val 50000" name="adj1"/>
              </a:avLst>
            </a:prstGeom>
            <a:noFill/>
            <a:ln cap="flat" cmpd="sng" w="5675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6a0f8dc9d_0_235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RADIAN Project Timeline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  <p:graphicFrame>
        <p:nvGraphicFramePr>
          <p:cNvPr id="118" name="Google Shape;118;g386a0f8dc9d_0_235"/>
          <p:cNvGraphicFramePr/>
          <p:nvPr/>
        </p:nvGraphicFramePr>
        <p:xfrm>
          <a:off x="230909" y="20901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{16DD0A52-1A9F-41AB-BF9E-297F6123B2A6}</a:tableStyleId>
              </a:tblPr>
              <a:tblGrid>
                <a:gridCol w="1086575"/>
                <a:gridCol w="1082400"/>
                <a:gridCol w="1084500"/>
                <a:gridCol w="1092825"/>
                <a:gridCol w="1092825"/>
                <a:gridCol w="1141700"/>
                <a:gridCol w="1031450"/>
                <a:gridCol w="959050"/>
              </a:tblGrid>
              <a:tr h="1040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/>
                        <a:t>Subsystem Review</a:t>
                      </a:r>
                      <a:endParaRPr sz="975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75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u="none" cap="none" strike="noStrike"/>
                        <a:t>(completed </a:t>
                      </a:r>
                      <a:r>
                        <a:rPr lang="en-US" sz="975"/>
                        <a:t>1/26</a:t>
                      </a:r>
                      <a:r>
                        <a:rPr lang="en-US" sz="975" u="none" cap="none" strike="noStrike"/>
                        <a:t>)</a:t>
                      </a:r>
                      <a:endParaRPr sz="1050"/>
                    </a:p>
                  </a:txBody>
                  <a:tcPr marT="34250" marB="342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/>
                        <a:t>Updating and testing subsystems </a:t>
                      </a:r>
                      <a:endParaRPr sz="975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/>
                        <a:t>(Wireless and Physical)</a:t>
                      </a:r>
                      <a:endParaRPr sz="975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75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u="none" cap="none" strike="noStrike"/>
                        <a:t>(completed </a:t>
                      </a:r>
                      <a:r>
                        <a:rPr lang="en-US" sz="975"/>
                        <a:t>2/2</a:t>
                      </a:r>
                      <a:r>
                        <a:rPr lang="en-US" sz="975" u="none" cap="none" strike="noStrike"/>
                        <a:t>)</a:t>
                      </a:r>
                      <a:endParaRPr sz="975" u="none" cap="none" strike="noStrike"/>
                    </a:p>
                  </a:txBody>
                  <a:tcPr marT="34250" marB="342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/>
                        <a:t>Updating subsystem (Data)</a:t>
                      </a:r>
                      <a:endParaRPr sz="975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75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/>
                        <a:t>(To be complete by 2/16)</a:t>
                      </a:r>
                      <a:endParaRPr sz="975"/>
                    </a:p>
                  </a:txBody>
                  <a:tcPr marT="34250" marB="342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>
                          <a:solidFill>
                            <a:schemeClr val="dk1"/>
                          </a:solidFill>
                        </a:rPr>
                        <a:t>Collect radar testing data and trials </a:t>
                      </a:r>
                      <a:endParaRPr sz="975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75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>
                          <a:solidFill>
                            <a:schemeClr val="dk1"/>
                          </a:solidFill>
                        </a:rPr>
                        <a:t>(Ongoing until 3/9)</a:t>
                      </a:r>
                      <a:endParaRPr sz="975"/>
                    </a:p>
                  </a:txBody>
                  <a:tcPr marT="34250" marB="342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975">
                          <a:solidFill>
                            <a:schemeClr val="dk1"/>
                          </a:solidFill>
                        </a:rPr>
                        <a:t>Basic integration between subsystems</a:t>
                      </a:r>
                      <a:endParaRPr sz="975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t/>
                      </a:r>
                      <a:endParaRPr sz="975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975">
                          <a:solidFill>
                            <a:schemeClr val="dk1"/>
                          </a:solidFill>
                        </a:rPr>
                        <a:t>(To complete by 2/19 (Blitz))</a:t>
                      </a:r>
                      <a:endParaRPr sz="975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75"/>
                    </a:p>
                  </a:txBody>
                  <a:tcPr marT="34250" marB="342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/>
                        <a:t>Full RADIAN System Test</a:t>
                      </a:r>
                      <a:endParaRPr sz="975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75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/>
                        <a:t>(To complete by 3/16)</a:t>
                      </a:r>
                      <a:endParaRPr sz="975"/>
                    </a:p>
                  </a:txBody>
                  <a:tcPr marT="34250" marB="342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/>
                        <a:t>Validation Testing</a:t>
                      </a:r>
                      <a:endParaRPr sz="975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75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/>
                        <a:t>(To be complete by 4/6)</a:t>
                      </a:r>
                      <a:endParaRPr sz="975"/>
                    </a:p>
                  </a:txBody>
                  <a:tcPr marT="34250" marB="342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/>
                        <a:t>Final Demo and Report</a:t>
                      </a:r>
                      <a:endParaRPr sz="975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975" u="none" cap="none" strike="noStrike"/>
                      </a:br>
                      <a:r>
                        <a:rPr lang="en-US" sz="975"/>
                        <a:t>(To be complete by 4/20</a:t>
                      </a:r>
                      <a:r>
                        <a:rPr lang="en-US" sz="975" u="none" cap="none" strike="noStrike"/>
                        <a:t>)</a:t>
                      </a:r>
                      <a:endParaRPr sz="975" u="none" cap="none" strike="noStrike"/>
                    </a:p>
                  </a:txBody>
                  <a:tcPr marT="34250" marB="342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6a0f8dc9d_0_242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Data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Matthew Blackwell</a:t>
            </a:r>
            <a:endParaRPr sz="2980"/>
          </a:p>
        </p:txBody>
      </p:sp>
      <p:graphicFrame>
        <p:nvGraphicFramePr>
          <p:cNvPr id="124" name="Google Shape;124;g386a0f8dc9d_0_242"/>
          <p:cNvGraphicFramePr/>
          <p:nvPr/>
        </p:nvGraphicFramePr>
        <p:xfrm>
          <a:off x="685800" y="1464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{16DD0A52-1A9F-41AB-BF9E-297F6123B2A6}</a:tableStyleId>
              </a:tblPr>
              <a:tblGrid>
                <a:gridCol w="3886200"/>
                <a:gridCol w="3886200"/>
              </a:tblGrid>
              <a:tr h="4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Accomplishments since last update  </a:t>
                      </a:r>
                      <a:r>
                        <a:rPr lang="en-US" sz="1350">
                          <a:solidFill>
                            <a:srgbClr val="C20000"/>
                          </a:solidFill>
                        </a:rPr>
                        <a:t>~30 hrs of effort</a:t>
                      </a:r>
                      <a:endParaRPr sz="1350" u="none" cap="none" strike="noStrike">
                        <a:solidFill>
                          <a:srgbClr val="C20000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Ongoing progress/problems and plans until the next presentation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300950"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Completed base AI model in preparation for gathering training data with Wireless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Tested </a:t>
                      </a:r>
                      <a:r>
                        <a:rPr lang="en-US" sz="1350"/>
                        <a:t>integrated</a:t>
                      </a:r>
                      <a:r>
                        <a:rPr lang="en-US" sz="1350"/>
                        <a:t> Gotify server from Raspberry Pi to RADIAN android app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Ongoing </a:t>
                      </a:r>
                      <a:r>
                        <a:rPr lang="en-US" sz="1350"/>
                        <a:t>integration</a:t>
                      </a:r>
                      <a:r>
                        <a:rPr lang="en-US" sz="1350"/>
                        <a:t> by gathering radar testing data with Wireless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Documenting testing procedure to ensure </a:t>
                      </a:r>
                      <a:r>
                        <a:rPr lang="en-US" sz="1350"/>
                        <a:t>reliability</a:t>
                      </a:r>
                      <a:r>
                        <a:rPr lang="en-US" sz="1350"/>
                        <a:t> and </a:t>
                      </a:r>
                      <a:r>
                        <a:rPr lang="en-US" sz="1350"/>
                        <a:t>repeatability</a:t>
                      </a:r>
                      <a:r>
                        <a:rPr lang="en-US" sz="1350"/>
                        <a:t> when gathering data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Start gathering data using Wireless’s radar board and </a:t>
                      </a:r>
                      <a:r>
                        <a:rPr lang="en-US" sz="1350"/>
                        <a:t>preparing</a:t>
                      </a:r>
                      <a:r>
                        <a:rPr lang="en-US" sz="1350"/>
                        <a:t> data for training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Training base ML model and refining the model as results are reported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Integrate with Physical by running Raspberry Pi 3 purely off of battery for a specified amount of time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6a0f8dc9d_0_249"/>
          <p:cNvSpPr txBox="1"/>
          <p:nvPr>
            <p:ph type="title"/>
          </p:nvPr>
        </p:nvSpPr>
        <p:spPr>
          <a:xfrm>
            <a:off x="457200" y="787004"/>
            <a:ext cx="82296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Data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Matthew Blackwell</a:t>
            </a:r>
            <a:endParaRPr sz="2980"/>
          </a:p>
        </p:txBody>
      </p:sp>
      <p:pic>
        <p:nvPicPr>
          <p:cNvPr id="130" name="Google Shape;130;g386a0f8dc9d_0_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41804"/>
            <a:ext cx="4155907" cy="3449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86a0f8dc9d_0_2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4600" y="258625"/>
            <a:ext cx="2102200" cy="4626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6a0f8dc9d_0_311"/>
          <p:cNvSpPr txBox="1"/>
          <p:nvPr>
            <p:ph type="title"/>
          </p:nvPr>
        </p:nvSpPr>
        <p:spPr>
          <a:xfrm>
            <a:off x="2514950" y="62908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Data Gantt Chart</a:t>
            </a:r>
            <a:endParaRPr sz="2980"/>
          </a:p>
        </p:txBody>
      </p:sp>
      <p:sp>
        <p:nvSpPr>
          <p:cNvPr id="137" name="Google Shape;137;g386a0f8dc9d_0_311"/>
          <p:cNvSpPr txBox="1"/>
          <p:nvPr>
            <p:ph type="title"/>
          </p:nvPr>
        </p:nvSpPr>
        <p:spPr>
          <a:xfrm>
            <a:off x="457200" y="94473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Data’s Two Week Plan</a:t>
            </a:r>
            <a:endParaRPr sz="2980"/>
          </a:p>
        </p:txBody>
      </p:sp>
      <p:pic>
        <p:nvPicPr>
          <p:cNvPr id="138" name="Google Shape;138;g386a0f8dc9d_0_3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700" y="1613425"/>
            <a:ext cx="8260599" cy="29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6a0f8dc9d_0_363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Wireless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Mitch Hoffman</a:t>
            </a:r>
            <a:endParaRPr sz="2980"/>
          </a:p>
        </p:txBody>
      </p:sp>
      <p:graphicFrame>
        <p:nvGraphicFramePr>
          <p:cNvPr id="144" name="Google Shape;144;g386a0f8dc9d_0_363"/>
          <p:cNvGraphicFramePr/>
          <p:nvPr/>
        </p:nvGraphicFramePr>
        <p:xfrm>
          <a:off x="685800" y="1464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{16DD0A52-1A9F-41AB-BF9E-297F6123B2A6}</a:tableStyleId>
              </a:tblPr>
              <a:tblGrid>
                <a:gridCol w="3886200"/>
                <a:gridCol w="3886200"/>
              </a:tblGrid>
              <a:tr h="4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Accomplishments since last update  </a:t>
                      </a:r>
                      <a:r>
                        <a:rPr lang="en-US" sz="1350" u="none" cap="none" strike="noStrike">
                          <a:solidFill>
                            <a:srgbClr val="C20000"/>
                          </a:solidFill>
                        </a:rPr>
                        <a:t>~30</a:t>
                      </a:r>
                      <a:r>
                        <a:rPr lang="en-US" sz="1350" u="none" cap="none" strike="noStrike">
                          <a:solidFill>
                            <a:srgbClr val="C20000"/>
                          </a:solidFill>
                        </a:rPr>
                        <a:t> hrs of effort</a:t>
                      </a:r>
                      <a:endParaRPr sz="1350" u="none" cap="none" strike="noStrike">
                        <a:solidFill>
                          <a:srgbClr val="C20000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Ongoing progress/problems and plans until the next presentation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300950"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debugged the radar data processing code for integration with pi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switched from tracking object to solely detection to better utilize the ML model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debugged the mobile app code for integration with pi and gotify server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completed integration between the mobile app and gotify server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collecting data from the radar to train ML model for fall detection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testing consistency in alerts from gotify server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6a0f8dc9d_0_369"/>
          <p:cNvSpPr txBox="1"/>
          <p:nvPr>
            <p:ph type="title"/>
          </p:nvPr>
        </p:nvSpPr>
        <p:spPr>
          <a:xfrm>
            <a:off x="457200" y="787004"/>
            <a:ext cx="82296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Wireless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Mitch Hoffman</a:t>
            </a:r>
            <a:endParaRPr sz="2980"/>
          </a:p>
        </p:txBody>
      </p:sp>
      <p:pic>
        <p:nvPicPr>
          <p:cNvPr id="150" name="Google Shape;150;g386a0f8dc9d_0_3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70000"/>
            <a:ext cx="4873450" cy="236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86a0f8dc9d_0_3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0025" y="1294384"/>
            <a:ext cx="1643075" cy="3615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86a0f8dc9d_0_3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0351" y="1285850"/>
            <a:ext cx="1643075" cy="363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6a0f8dc9d_0_375"/>
          <p:cNvSpPr txBox="1"/>
          <p:nvPr>
            <p:ph type="title"/>
          </p:nvPr>
        </p:nvSpPr>
        <p:spPr>
          <a:xfrm>
            <a:off x="2514950" y="62908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Wireless Gantt Chart</a:t>
            </a:r>
            <a:endParaRPr sz="2980"/>
          </a:p>
        </p:txBody>
      </p:sp>
      <p:sp>
        <p:nvSpPr>
          <p:cNvPr id="158" name="Google Shape;158;g386a0f8dc9d_0_375"/>
          <p:cNvSpPr txBox="1"/>
          <p:nvPr>
            <p:ph type="title"/>
          </p:nvPr>
        </p:nvSpPr>
        <p:spPr>
          <a:xfrm>
            <a:off x="457200" y="94473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Wireless’s Two Week Plan</a:t>
            </a:r>
            <a:endParaRPr sz="2980"/>
          </a:p>
        </p:txBody>
      </p:sp>
      <p:pic>
        <p:nvPicPr>
          <p:cNvPr id="159" name="Google Shape;159;g386a0f8dc9d_0_3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839839"/>
            <a:ext cx="8229600" cy="2220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6a0f8dc9d_0_426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Physical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Wyatt Johnson</a:t>
            </a:r>
            <a:endParaRPr sz="2980"/>
          </a:p>
        </p:txBody>
      </p:sp>
      <p:graphicFrame>
        <p:nvGraphicFramePr>
          <p:cNvPr id="165" name="Google Shape;165;g386a0f8dc9d_0_426"/>
          <p:cNvGraphicFramePr/>
          <p:nvPr/>
        </p:nvGraphicFramePr>
        <p:xfrm>
          <a:off x="685800" y="158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{16DD0A52-1A9F-41AB-BF9E-297F6123B2A6}</a:tableStyleId>
              </a:tblPr>
              <a:tblGrid>
                <a:gridCol w="3886200"/>
                <a:gridCol w="3886200"/>
              </a:tblGrid>
              <a:tr h="4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Accomplishments since last update  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C20000"/>
                          </a:solidFill>
                        </a:rPr>
                        <a:t>~23</a:t>
                      </a:r>
                      <a:r>
                        <a:rPr lang="en-US" sz="1350" u="none" cap="none" strike="noStrike">
                          <a:solidFill>
                            <a:srgbClr val="C20000"/>
                          </a:solidFill>
                        </a:rPr>
                        <a:t> hrs of effort</a:t>
                      </a:r>
                      <a:endParaRPr sz="1350" u="none" cap="none" strike="noStrike">
                        <a:solidFill>
                          <a:srgbClr val="C20000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/>
                        <a:t>P</a:t>
                      </a:r>
                      <a:r>
                        <a:rPr lang="en-US" sz="1350" u="none" cap="none" strike="noStrike"/>
                        <a:t>lans until the next presentation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300950"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Brought up, tested, and characterized the 2S charging circuit (MP2615)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Integrated the Raspberry Pi with the power board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Verified the supply can reliably power the Pi under full CPU load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Power the AWR6843 radar board from the power board/bench supply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Power the radar + Raspberry Pi simultaneously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Validate stable 5V at both loads and confirm UART/data communication while powered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Finalize the enclosure design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6a0f8dc9d_0_432"/>
          <p:cNvSpPr txBox="1"/>
          <p:nvPr>
            <p:ph type="title"/>
          </p:nvPr>
        </p:nvSpPr>
        <p:spPr>
          <a:xfrm>
            <a:off x="787300" y="361729"/>
            <a:ext cx="82296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2720">
                <a:highlight>
                  <a:schemeClr val="lt1"/>
                </a:highlight>
              </a:rPr>
              <a:t>MP2615 2S Charger</a:t>
            </a:r>
            <a:endParaRPr sz="2720">
              <a:highlight>
                <a:schemeClr val="lt1"/>
              </a:highlight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0" lang="en-US" sz="2720">
                <a:highlight>
                  <a:schemeClr val="lt1"/>
                </a:highlight>
              </a:rPr>
              <a:t>Validation Snapshot</a:t>
            </a:r>
            <a:endParaRPr b="0" sz="2720">
              <a:highlight>
                <a:schemeClr val="lt1"/>
              </a:highlight>
            </a:endParaRPr>
          </a:p>
        </p:txBody>
      </p:sp>
      <p:pic>
        <p:nvPicPr>
          <p:cNvPr id="171" name="Google Shape;171;g386a0f8dc9d_0_432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7704"/>
            <a:ext cx="5640699" cy="348779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86a0f8dc9d_0_432"/>
          <p:cNvSpPr/>
          <p:nvPr/>
        </p:nvSpPr>
        <p:spPr>
          <a:xfrm>
            <a:off x="5640700" y="1904554"/>
            <a:ext cx="1655400" cy="91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9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950" lIns="114950" spcFirstLastPara="1" rIns="114950" wrap="square" tIns="114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0"/>
              <a:t>Start Voltage</a:t>
            </a:r>
            <a:endParaRPr sz="16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60"/>
              <a:t>7.397V</a:t>
            </a:r>
            <a:endParaRPr b="1" sz="3060"/>
          </a:p>
        </p:txBody>
      </p:sp>
      <p:sp>
        <p:nvSpPr>
          <p:cNvPr id="173" name="Google Shape;173;g386a0f8dc9d_0_432"/>
          <p:cNvSpPr/>
          <p:nvPr/>
        </p:nvSpPr>
        <p:spPr>
          <a:xfrm>
            <a:off x="7361500" y="1904529"/>
            <a:ext cx="1655400" cy="91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9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950" lIns="114950" spcFirstLastPara="1" rIns="114950" wrap="square" tIns="114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0"/>
              <a:t>End </a:t>
            </a:r>
            <a:r>
              <a:rPr lang="en-US" sz="1660"/>
              <a:t>Voltage</a:t>
            </a:r>
            <a:endParaRPr sz="16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60"/>
              <a:t>7.520V</a:t>
            </a:r>
            <a:endParaRPr b="1" sz="3060"/>
          </a:p>
        </p:txBody>
      </p:sp>
      <p:sp>
        <p:nvSpPr>
          <p:cNvPr id="174" name="Google Shape;174;g386a0f8dc9d_0_432"/>
          <p:cNvSpPr/>
          <p:nvPr/>
        </p:nvSpPr>
        <p:spPr>
          <a:xfrm>
            <a:off x="5640700" y="2959204"/>
            <a:ext cx="1655400" cy="91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9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950" lIns="114950" spcFirstLastPara="1" rIns="114950" wrap="square" tIns="114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0"/>
              <a:t>Δ </a:t>
            </a:r>
            <a:r>
              <a:rPr lang="en-US" sz="1660"/>
              <a:t>Voltage</a:t>
            </a:r>
            <a:endParaRPr sz="16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60"/>
              <a:t>+0.123</a:t>
            </a:r>
            <a:r>
              <a:rPr b="1" lang="en-US" sz="2560"/>
              <a:t>V</a:t>
            </a:r>
            <a:endParaRPr b="1" sz="2560"/>
          </a:p>
        </p:txBody>
      </p:sp>
      <p:sp>
        <p:nvSpPr>
          <p:cNvPr id="175" name="Google Shape;175;g386a0f8dc9d_0_432"/>
          <p:cNvSpPr/>
          <p:nvPr/>
        </p:nvSpPr>
        <p:spPr>
          <a:xfrm>
            <a:off x="7361500" y="2959179"/>
            <a:ext cx="1655400" cy="91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9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950" lIns="114950" spcFirstLastPara="1" rIns="114950" wrap="square" tIns="114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0"/>
              <a:t>Elapsed Time</a:t>
            </a:r>
            <a:endParaRPr sz="16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60"/>
              <a:t>15 min</a:t>
            </a:r>
            <a:endParaRPr b="1" sz="3060"/>
          </a:p>
        </p:txBody>
      </p:sp>
      <p:sp>
        <p:nvSpPr>
          <p:cNvPr id="176" name="Google Shape;176;g386a0f8dc9d_0_432"/>
          <p:cNvSpPr/>
          <p:nvPr/>
        </p:nvSpPr>
        <p:spPr>
          <a:xfrm>
            <a:off x="6433550" y="4013854"/>
            <a:ext cx="1851600" cy="91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9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4950" lIns="114950" spcFirstLastPara="1" rIns="114950" wrap="square" tIns="114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0"/>
              <a:t>Avg current</a:t>
            </a:r>
            <a:endParaRPr sz="16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60"/>
              <a:t>1.761 A</a:t>
            </a:r>
            <a:endParaRPr b="1" sz="306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dc2ff7cab_0_24"/>
          <p:cNvSpPr txBox="1"/>
          <p:nvPr>
            <p:ph type="title"/>
          </p:nvPr>
        </p:nvSpPr>
        <p:spPr>
          <a:xfrm>
            <a:off x="914400" y="8"/>
            <a:ext cx="8229600" cy="60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40"/>
              <a:t>Power Supply Verification Test</a:t>
            </a:r>
            <a:endParaRPr sz="254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40"/>
              <a:t>For Raspberry Pi</a:t>
            </a:r>
            <a:endParaRPr sz="2540"/>
          </a:p>
        </p:txBody>
      </p:sp>
      <p:sp>
        <p:nvSpPr>
          <p:cNvPr id="183" name="Google Shape;183;g3bdc2ff7cab_0_24"/>
          <p:cNvSpPr txBox="1"/>
          <p:nvPr>
            <p:ph idx="1" type="body"/>
          </p:nvPr>
        </p:nvSpPr>
        <p:spPr>
          <a:xfrm>
            <a:off x="457200" y="1536950"/>
            <a:ext cx="411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Raspberry Pi Stable</a:t>
            </a:r>
            <a:endParaRPr b="1"/>
          </a:p>
          <a:p>
            <a:pPr indent="-387350" lvl="0" marL="457200" rtl="0" algn="l">
              <a:spcBef>
                <a:spcPts val="36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Clean boot sequence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No voltage instability detected</a:t>
            </a:r>
            <a:endParaRPr sz="2500"/>
          </a:p>
        </p:txBody>
      </p:sp>
      <p:sp>
        <p:nvSpPr>
          <p:cNvPr id="184" name="Google Shape;184;g3bdc2ff7cab_0_24"/>
          <p:cNvSpPr txBox="1"/>
          <p:nvPr>
            <p:ph idx="1" type="body"/>
          </p:nvPr>
        </p:nvSpPr>
        <p:spPr>
          <a:xfrm>
            <a:off x="4731325" y="1536950"/>
            <a:ext cx="411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CPU Stress Test</a:t>
            </a:r>
            <a:endParaRPr b="1"/>
          </a:p>
          <a:p>
            <a:pPr indent="-365125" lvl="0" marL="457200" rtl="0" algn="l">
              <a:spcBef>
                <a:spcPts val="360"/>
              </a:spcBef>
              <a:spcAft>
                <a:spcPts val="0"/>
              </a:spcAft>
              <a:buSzPts val="2150"/>
              <a:buChar char="•"/>
            </a:pPr>
            <a:r>
              <a:rPr lang="en-US" sz="2150"/>
              <a:t>4 parallel CPU processes</a:t>
            </a:r>
            <a:endParaRPr sz="2150"/>
          </a:p>
          <a:p>
            <a:pPr indent="-365125" lvl="0" marL="457200" rtl="0" algn="l">
              <a:spcBef>
                <a:spcPts val="0"/>
              </a:spcBef>
              <a:spcAft>
                <a:spcPts val="0"/>
              </a:spcAft>
              <a:buSzPts val="2150"/>
              <a:buChar char="•"/>
            </a:pPr>
            <a:r>
              <a:rPr lang="en-US" sz="2150"/>
              <a:t>100% utilization on all cores</a:t>
            </a:r>
            <a:endParaRPr sz="2150"/>
          </a:p>
          <a:p>
            <a:pPr indent="-365125" lvl="0" marL="457200" rtl="0" algn="l">
              <a:spcBef>
                <a:spcPts val="0"/>
              </a:spcBef>
              <a:spcAft>
                <a:spcPts val="0"/>
              </a:spcAft>
              <a:buSzPts val="2150"/>
              <a:buChar char="•"/>
            </a:pPr>
            <a:r>
              <a:rPr lang="en-US" sz="2150"/>
              <a:t>60-second duration</a:t>
            </a:r>
            <a:endParaRPr sz="2150"/>
          </a:p>
          <a:p>
            <a:pPr indent="-365125" lvl="0" marL="457200" rtl="0" algn="l">
              <a:spcBef>
                <a:spcPts val="0"/>
              </a:spcBef>
              <a:spcAft>
                <a:spcPts val="0"/>
              </a:spcAft>
              <a:buSzPts val="2150"/>
              <a:buChar char="•"/>
            </a:pPr>
            <a:r>
              <a:rPr lang="en-US" sz="2150"/>
              <a:t>Power Supply </a:t>
            </a:r>
            <a:r>
              <a:rPr lang="en-US" sz="2150"/>
              <a:t>remind</a:t>
            </a:r>
            <a:r>
              <a:rPr lang="en-US" sz="2150"/>
              <a:t> stable</a:t>
            </a:r>
            <a:endParaRPr sz="2150"/>
          </a:p>
        </p:txBody>
      </p:sp>
      <p:sp>
        <p:nvSpPr>
          <p:cNvPr id="185" name="Google Shape;185;g3bdc2ff7cab_0_24"/>
          <p:cNvSpPr txBox="1"/>
          <p:nvPr/>
        </p:nvSpPr>
        <p:spPr>
          <a:xfrm>
            <a:off x="218925" y="4558325"/>
            <a:ext cx="8763000" cy="45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FF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for i in 1 2 3 4; do yes &gt; /dev/null &amp; done; sleep 60; killall yes</a:t>
            </a:r>
            <a:endParaRPr sz="1800">
              <a:solidFill>
                <a:srgbClr val="00FF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6" name="Google Shape;186;g3bdc2ff7cab_0_24"/>
          <p:cNvSpPr txBox="1"/>
          <p:nvPr/>
        </p:nvSpPr>
        <p:spPr>
          <a:xfrm>
            <a:off x="270900" y="4211950"/>
            <a:ext cx="27363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Test Command Executed: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6a0f8dc9d_0_438"/>
          <p:cNvSpPr txBox="1"/>
          <p:nvPr>
            <p:ph type="title"/>
          </p:nvPr>
        </p:nvSpPr>
        <p:spPr>
          <a:xfrm>
            <a:off x="2514950" y="62908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Physical Gantt Chart</a:t>
            </a:r>
            <a:endParaRPr sz="2980"/>
          </a:p>
        </p:txBody>
      </p:sp>
      <p:sp>
        <p:nvSpPr>
          <p:cNvPr id="192" name="Google Shape;192;g386a0f8dc9d_0_438"/>
          <p:cNvSpPr txBox="1"/>
          <p:nvPr>
            <p:ph type="title"/>
          </p:nvPr>
        </p:nvSpPr>
        <p:spPr>
          <a:xfrm>
            <a:off x="457200" y="94473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Physical’s</a:t>
            </a:r>
            <a:r>
              <a:rPr lang="en-US"/>
              <a:t> Two Week Plan</a:t>
            </a:r>
            <a:endParaRPr sz="2980"/>
          </a:p>
        </p:txBody>
      </p:sp>
      <p:pic>
        <p:nvPicPr>
          <p:cNvPr id="193" name="Google Shape;193;g386a0f8dc9d_0_4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312" y="1645001"/>
            <a:ext cx="8815376" cy="2245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6a0f8dc9d_0_494"/>
          <p:cNvSpPr txBox="1"/>
          <p:nvPr>
            <p:ph type="title"/>
          </p:nvPr>
        </p:nvSpPr>
        <p:spPr>
          <a:xfrm>
            <a:off x="2595825" y="5903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RADIAN Validation Plan</a:t>
            </a:r>
            <a:endParaRPr sz="2980"/>
          </a:p>
        </p:txBody>
      </p:sp>
      <p:pic>
        <p:nvPicPr>
          <p:cNvPr id="199" name="Google Shape;199;g386a0f8dc9d_0_4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37" y="1031412"/>
            <a:ext cx="8930126" cy="372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6a0f8dc9d_0_544"/>
          <p:cNvSpPr txBox="1"/>
          <p:nvPr>
            <p:ph type="title"/>
          </p:nvPr>
        </p:nvSpPr>
        <p:spPr>
          <a:xfrm>
            <a:off x="2595825" y="5903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RADIAN Gantt Chart</a:t>
            </a:r>
            <a:endParaRPr sz="2980"/>
          </a:p>
        </p:txBody>
      </p:sp>
      <p:sp>
        <p:nvSpPr>
          <p:cNvPr id="205" name="Google Shape;205;g386a0f8dc9d_0_544"/>
          <p:cNvSpPr txBox="1"/>
          <p:nvPr>
            <p:ph type="title"/>
          </p:nvPr>
        </p:nvSpPr>
        <p:spPr>
          <a:xfrm>
            <a:off x="507350" y="758808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RADIAN’s Two Week Plan</a:t>
            </a:r>
            <a:endParaRPr sz="2980"/>
          </a:p>
        </p:txBody>
      </p:sp>
      <p:pic>
        <p:nvPicPr>
          <p:cNvPr id="206" name="Google Shape;206;g386a0f8dc9d_0_5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063" y="1243173"/>
            <a:ext cx="8329876" cy="382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6a0f8dc9d_0_258"/>
          <p:cNvSpPr txBox="1"/>
          <p:nvPr>
            <p:ph idx="4294967295" type="title"/>
          </p:nvPr>
        </p:nvSpPr>
        <p:spPr>
          <a:xfrm>
            <a:off x="457200" y="1740799"/>
            <a:ext cx="8229600" cy="19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Thanks and Gig ‘Em</a:t>
            </a:r>
            <a:endParaRPr b="1" sz="3200"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sz="3200"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Any Questions?</a:t>
            </a:r>
            <a:endParaRPr b="1"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4</vt:lpwstr>
  </property>
</Properties>
</file>