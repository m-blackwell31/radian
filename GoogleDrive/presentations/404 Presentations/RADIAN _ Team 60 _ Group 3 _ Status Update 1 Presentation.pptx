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HlgXO/CLpBpF5cySJy0ZMC5Ll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780A51-E3A3-4513-8007-FB26A648CFD7}">
  <a:tblStyle styleId="{BB780A51-E3A3-4513-8007-FB26A648CF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19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a7ee5132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" name="Google Shape;63;g3ba7ee5132b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7ee5132b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g3ba7ee5132b_3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a7ee5132b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ba7ee5132b_3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bfdbd9de5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15" name="Google Shape;115;g3bbfdbd9de5_2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bfdbd9de5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21" name="Google Shape;121;g3bbfdbd9de5_2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fdbd9de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g3bbfdbd9de5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bfdbd9de5_2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bbfdbd9de5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fdbd9de5_2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bfdbd9de5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fab8d9df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g3bfab8d9dfe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fab8d9dfe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bfab8d9df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fab8d9dfe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bfab8d9df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bfdbd9d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g3bbfdbd9de5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bfdbd9de5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bbfdbd9de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bfdbd9de5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bfdbd9de5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bfdbd9de5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bfdbd9de5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bbfdbd9de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bfdbd9de5_2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bbfdbd9de5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bfdbd9de5_2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bbfdbd9de5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0851" y="786883"/>
            <a:ext cx="8235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2860969"/>
            <a:ext cx="73026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60: RADIAN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455"/>
              <a:t>Matthew Blackwell, Mitchell Hoffman, Wyatt Johnson</a:t>
            </a:r>
            <a:br>
              <a:rPr lang="en-US" sz="2455"/>
            </a:br>
            <a:r>
              <a:rPr lang="en-US" sz="2455"/>
              <a:t>Sponsor: Dr. </a:t>
            </a:r>
            <a:r>
              <a:rPr lang="en-US" sz="2455"/>
              <a:t>Arya</a:t>
            </a:r>
            <a:r>
              <a:rPr lang="en-US" sz="2455"/>
              <a:t> Menon</a:t>
            </a:r>
            <a:br>
              <a:rPr lang="en-US" sz="2455"/>
            </a:br>
            <a:r>
              <a:rPr lang="en-US" sz="2455"/>
              <a:t>TA: </a:t>
            </a:r>
            <a:r>
              <a:rPr lang="en-US" sz="2455"/>
              <a:t>Manoj Kumar Balamurugan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47727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ba7ee5132b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625" y="3730450"/>
            <a:ext cx="1214510" cy="1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ba7ee5132b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412" y="3730450"/>
            <a:ext cx="1433195" cy="14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ba7ee5132b_3_0"/>
          <p:cNvSpPr txBox="1"/>
          <p:nvPr>
            <p:ph type="title"/>
          </p:nvPr>
        </p:nvSpPr>
        <p:spPr>
          <a:xfrm>
            <a:off x="450851" y="786883"/>
            <a:ext cx="8235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8" name="Google Shape;68;g3ba7ee5132b_3_0"/>
          <p:cNvSpPr txBox="1"/>
          <p:nvPr>
            <p:ph idx="1" type="body"/>
          </p:nvPr>
        </p:nvSpPr>
        <p:spPr>
          <a:xfrm>
            <a:off x="297000" y="1424225"/>
            <a:ext cx="855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Falls are the leading cause of injury in elderly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100"/>
              <a:t>F</a:t>
            </a:r>
            <a:r>
              <a:rPr lang="en-US" sz="2200"/>
              <a:t>ast </a:t>
            </a:r>
            <a:r>
              <a:rPr lang="en-US" sz="2100"/>
              <a:t>d</a:t>
            </a:r>
            <a:r>
              <a:rPr lang="en-US" sz="2200"/>
              <a:t>etection saves lives through quick response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Current Solutions - Limitations:</a:t>
            </a:r>
            <a:endParaRPr b="1"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Wearables → must be worn and charged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Push-buttons → user must be conscious/able to press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Camera → effective but invade privacy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g3ba7ee5132b_3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g3ba7ee5132b_3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851" y="3550826"/>
            <a:ext cx="1592674" cy="15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ba7ee5132b_3_54" title="Concept Image.png"/>
          <p:cNvPicPr preferRelativeResize="0"/>
          <p:nvPr/>
        </p:nvPicPr>
        <p:blipFill rotWithShape="1">
          <a:blip r:embed="rId3">
            <a:alphaModFix/>
          </a:blip>
          <a:srcRect b="20159" l="0" r="0" t="0"/>
          <a:stretch/>
        </p:blipFill>
        <p:spPr>
          <a:xfrm>
            <a:off x="-86800" y="1531185"/>
            <a:ext cx="5146800" cy="30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ba7ee5132b_3_54"/>
          <p:cNvSpPr txBox="1"/>
          <p:nvPr>
            <p:ph type="title"/>
          </p:nvPr>
        </p:nvSpPr>
        <p:spPr>
          <a:xfrm>
            <a:off x="3347775" y="229075"/>
            <a:ext cx="6381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RADIAN System Summary</a:t>
            </a:r>
            <a:endParaRPr/>
          </a:p>
        </p:txBody>
      </p:sp>
      <p:sp>
        <p:nvSpPr>
          <p:cNvPr id="77" name="Google Shape;77;g3ba7ee5132b_3_54"/>
          <p:cNvSpPr txBox="1"/>
          <p:nvPr>
            <p:ph idx="1" type="body"/>
          </p:nvPr>
        </p:nvSpPr>
        <p:spPr>
          <a:xfrm>
            <a:off x="4993014" y="1012425"/>
            <a:ext cx="38274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 u="sng"/>
              <a:t>Proposed Solution:</a:t>
            </a:r>
            <a:endParaRPr b="1" sz="2100" u="sng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100" u="sng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Automatic Fall Detection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Works in real time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user action needed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Privacy-Preserving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camera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Protects independence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Reliable Response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Immediate accurate alerts to caregivers</a:t>
            </a:r>
            <a:endParaRPr sz="21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ba7ee5132b_3_5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a7ee5132b_3_106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84" name="Google Shape;84;g3ba7ee5132b_3_10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g3ba7ee5132b_3_106"/>
          <p:cNvGrpSpPr/>
          <p:nvPr/>
        </p:nvGrpSpPr>
        <p:grpSpPr>
          <a:xfrm>
            <a:off x="1311807" y="1199657"/>
            <a:ext cx="6759553" cy="3841524"/>
            <a:chOff x="471000" y="656050"/>
            <a:chExt cx="11366325" cy="6459600"/>
          </a:xfrm>
        </p:grpSpPr>
        <p:sp>
          <p:nvSpPr>
            <p:cNvPr id="86" name="Google Shape;86;g3ba7ee5132b_3_106"/>
            <p:cNvSpPr/>
            <p:nvPr/>
          </p:nvSpPr>
          <p:spPr>
            <a:xfrm>
              <a:off x="471000" y="656050"/>
              <a:ext cx="8579100" cy="64596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2"/>
            </a:p>
          </p:txBody>
        </p:sp>
        <p:sp>
          <p:nvSpPr>
            <p:cNvPr id="87" name="Google Shape;87;g3ba7ee5132b_3_106"/>
            <p:cNvSpPr/>
            <p:nvPr/>
          </p:nvSpPr>
          <p:spPr>
            <a:xfrm>
              <a:off x="802125" y="2958150"/>
              <a:ext cx="1198500" cy="11271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Battery</a:t>
              </a:r>
              <a:endParaRPr sz="832"/>
            </a:p>
          </p:txBody>
        </p:sp>
        <p:sp>
          <p:nvSpPr>
            <p:cNvPr id="88" name="Google Shape;88;g3ba7ee5132b_3_106"/>
            <p:cNvSpPr/>
            <p:nvPr/>
          </p:nvSpPr>
          <p:spPr>
            <a:xfrm>
              <a:off x="2590200" y="1361475"/>
              <a:ext cx="3333900" cy="43578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2"/>
            </a:p>
          </p:txBody>
        </p:sp>
        <p:sp>
          <p:nvSpPr>
            <p:cNvPr id="89" name="Google Shape;89;g3ba7ee5132b_3_106"/>
            <p:cNvSpPr/>
            <p:nvPr/>
          </p:nvSpPr>
          <p:spPr>
            <a:xfrm>
              <a:off x="3053475" y="2311200"/>
              <a:ext cx="2290500" cy="947100"/>
            </a:xfrm>
            <a:prstGeom prst="rect">
              <a:avLst/>
            </a:prstGeom>
            <a:solidFill>
              <a:srgbClr val="D9EAD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TI AWR6843</a:t>
              </a:r>
              <a:endParaRPr sz="832"/>
            </a:p>
          </p:txBody>
        </p:sp>
        <p:sp>
          <p:nvSpPr>
            <p:cNvPr id="90" name="Google Shape;90;g3ba7ee5132b_3_106"/>
            <p:cNvSpPr/>
            <p:nvPr/>
          </p:nvSpPr>
          <p:spPr>
            <a:xfrm>
              <a:off x="3085875" y="4295250"/>
              <a:ext cx="2225700" cy="947100"/>
            </a:xfrm>
            <a:prstGeom prst="rect">
              <a:avLst/>
            </a:prstGeom>
            <a:solidFill>
              <a:srgbClr val="CFE2F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Raspberry Pi 3</a:t>
              </a:r>
              <a:endParaRPr sz="832"/>
            </a:p>
          </p:txBody>
        </p:sp>
        <p:cxnSp>
          <p:nvCxnSpPr>
            <p:cNvPr id="91" name="Google Shape;91;g3ba7ee5132b_3_106"/>
            <p:cNvCxnSpPr/>
            <p:nvPr/>
          </p:nvCxnSpPr>
          <p:spPr>
            <a:xfrm>
              <a:off x="4257150" y="3455550"/>
              <a:ext cx="0" cy="4920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" name="Google Shape;92;g3ba7ee5132b_3_106"/>
            <p:cNvSpPr txBox="1"/>
            <p:nvPr/>
          </p:nvSpPr>
          <p:spPr>
            <a:xfrm>
              <a:off x="2822525" y="1460450"/>
              <a:ext cx="7113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75" lIns="54375" spcFirstLastPara="1" rIns="54375" wrap="square" tIns="5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PCB</a:t>
              </a:r>
              <a:endParaRPr sz="832"/>
            </a:p>
          </p:txBody>
        </p:sp>
        <p:sp>
          <p:nvSpPr>
            <p:cNvPr id="93" name="Google Shape;93;g3ba7ee5132b_3_106"/>
            <p:cNvSpPr/>
            <p:nvPr/>
          </p:nvSpPr>
          <p:spPr>
            <a:xfrm>
              <a:off x="2716200" y="5989075"/>
              <a:ext cx="3081900" cy="722400"/>
            </a:xfrm>
            <a:prstGeom prst="rect">
              <a:avLst/>
            </a:prstGeom>
            <a:solidFill>
              <a:srgbClr val="CFE2F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AI Algorithm / Signal Processing</a:t>
              </a:r>
              <a:endParaRPr sz="832"/>
            </a:p>
          </p:txBody>
        </p:sp>
        <p:cxnSp>
          <p:nvCxnSpPr>
            <p:cNvPr id="94" name="Google Shape;94;g3ba7ee5132b_3_106"/>
            <p:cNvCxnSpPr/>
            <p:nvPr/>
          </p:nvCxnSpPr>
          <p:spPr>
            <a:xfrm rot="10800000">
              <a:off x="4198725" y="5429950"/>
              <a:ext cx="0" cy="4491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" name="Google Shape;95;g3ba7ee5132b_3_106"/>
            <p:cNvCxnSpPr>
              <a:stCxn id="90" idx="3"/>
              <a:endCxn id="96" idx="1"/>
            </p:cNvCxnSpPr>
            <p:nvPr/>
          </p:nvCxnSpPr>
          <p:spPr>
            <a:xfrm flipH="1" rot="10800000">
              <a:off x="5311575" y="2651400"/>
              <a:ext cx="2145900" cy="2117400"/>
            </a:xfrm>
            <a:prstGeom prst="curvedConnector3">
              <a:avLst>
                <a:gd fmla="val 49997" name="adj1"/>
              </a:avLst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" name="Google Shape;96;g3ba7ee5132b_3_106"/>
            <p:cNvSpPr/>
            <p:nvPr/>
          </p:nvSpPr>
          <p:spPr>
            <a:xfrm>
              <a:off x="7457625" y="2313975"/>
              <a:ext cx="1254300" cy="674700"/>
            </a:xfrm>
            <a:prstGeom prst="rect">
              <a:avLst/>
            </a:prstGeom>
            <a:solidFill>
              <a:srgbClr val="D9EAD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Phone App</a:t>
              </a:r>
              <a:endParaRPr sz="832"/>
            </a:p>
          </p:txBody>
        </p:sp>
        <p:sp>
          <p:nvSpPr>
            <p:cNvPr id="97" name="Google Shape;97;g3ba7ee5132b_3_106"/>
            <p:cNvSpPr txBox="1"/>
            <p:nvPr/>
          </p:nvSpPr>
          <p:spPr>
            <a:xfrm rot="-5400000">
              <a:off x="4188900" y="3598425"/>
              <a:ext cx="6618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5"/>
                <a:t>Serial (UART or USB)</a:t>
              </a:r>
              <a:endParaRPr sz="475"/>
            </a:p>
          </p:txBody>
        </p:sp>
        <p:sp>
          <p:nvSpPr>
            <p:cNvPr id="98" name="Google Shape;98;g3ba7ee5132b_3_106"/>
            <p:cNvSpPr/>
            <p:nvPr/>
          </p:nvSpPr>
          <p:spPr>
            <a:xfrm>
              <a:off x="7457625" y="3237250"/>
              <a:ext cx="1254300" cy="674700"/>
            </a:xfrm>
            <a:prstGeom prst="rect">
              <a:avLst/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External Alarm </a:t>
              </a:r>
              <a:endParaRPr sz="832"/>
            </a:p>
          </p:txBody>
        </p:sp>
        <p:cxnSp>
          <p:nvCxnSpPr>
            <p:cNvPr id="99" name="Google Shape;99;g3ba7ee5132b_3_106"/>
            <p:cNvCxnSpPr/>
            <p:nvPr/>
          </p:nvCxnSpPr>
          <p:spPr>
            <a:xfrm rot="10800000">
              <a:off x="3630000" y="3453450"/>
              <a:ext cx="0" cy="4962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oval"/>
              <a:tailEnd len="med" w="med" type="stealth"/>
            </a:ln>
          </p:spPr>
        </p:cxnSp>
        <p:cxnSp>
          <p:nvCxnSpPr>
            <p:cNvPr id="100" name="Google Shape;100;g3ba7ee5132b_3_106"/>
            <p:cNvCxnSpPr/>
            <p:nvPr/>
          </p:nvCxnSpPr>
          <p:spPr>
            <a:xfrm>
              <a:off x="3718025" y="3468450"/>
              <a:ext cx="0" cy="4662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oval"/>
              <a:tailEnd len="med" w="med" type="stealth"/>
            </a:ln>
          </p:spPr>
        </p:cxnSp>
        <p:sp>
          <p:nvSpPr>
            <p:cNvPr id="101" name="Google Shape;101;g3ba7ee5132b_3_106"/>
            <p:cNvSpPr txBox="1"/>
            <p:nvPr/>
          </p:nvSpPr>
          <p:spPr>
            <a:xfrm rot="5400000">
              <a:off x="3046150" y="3523200"/>
              <a:ext cx="6618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5"/>
                <a:t>Watchdog Timer</a:t>
              </a:r>
              <a:endParaRPr sz="475"/>
            </a:p>
          </p:txBody>
        </p:sp>
        <p:grpSp>
          <p:nvGrpSpPr>
            <p:cNvPr id="102" name="Google Shape;102;g3ba7ee5132b_3_106"/>
            <p:cNvGrpSpPr/>
            <p:nvPr/>
          </p:nvGrpSpPr>
          <p:grpSpPr>
            <a:xfrm>
              <a:off x="9611625" y="813550"/>
              <a:ext cx="2225700" cy="1127100"/>
              <a:chOff x="8535050" y="1149975"/>
              <a:chExt cx="2225700" cy="1127100"/>
            </a:xfrm>
          </p:grpSpPr>
          <p:sp>
            <p:nvSpPr>
              <p:cNvPr id="103" name="Google Shape;103;g3ba7ee5132b_3_106"/>
              <p:cNvSpPr/>
              <p:nvPr/>
            </p:nvSpPr>
            <p:spPr>
              <a:xfrm>
                <a:off x="8535050" y="1149975"/>
                <a:ext cx="2225700" cy="1127100"/>
              </a:xfrm>
              <a:prstGeom prst="roundRect">
                <a:avLst>
                  <a:gd fmla="val 16667" name="adj"/>
                </a:avLst>
              </a:prstGeom>
              <a:solidFill>
                <a:srgbClr val="F3F3F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4" name="Google Shape;104;g3ba7ee5132b_3_106"/>
              <p:cNvSpPr/>
              <p:nvPr/>
            </p:nvSpPr>
            <p:spPr>
              <a:xfrm>
                <a:off x="8681925" y="1322650"/>
                <a:ext cx="411900" cy="206100"/>
              </a:xfrm>
              <a:prstGeom prst="rect">
                <a:avLst/>
              </a:prstGeom>
              <a:solidFill>
                <a:srgbClr val="CFE2F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5" name="Google Shape;105;g3ba7ee5132b_3_106"/>
              <p:cNvSpPr/>
              <p:nvPr/>
            </p:nvSpPr>
            <p:spPr>
              <a:xfrm>
                <a:off x="8681925" y="1612263"/>
                <a:ext cx="411900" cy="206100"/>
              </a:xfrm>
              <a:prstGeom prst="rect">
                <a:avLst/>
              </a:prstGeom>
              <a:solidFill>
                <a:srgbClr val="FFE599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6" name="Google Shape;106;g3ba7ee5132b_3_106"/>
              <p:cNvSpPr/>
              <p:nvPr/>
            </p:nvSpPr>
            <p:spPr>
              <a:xfrm>
                <a:off x="8681925" y="1901875"/>
                <a:ext cx="411900" cy="206100"/>
              </a:xfrm>
              <a:prstGeom prst="rect">
                <a:avLst/>
              </a:prstGeom>
              <a:solidFill>
                <a:srgbClr val="D9EAD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7" name="Google Shape;107;g3ba7ee5132b_3_106"/>
              <p:cNvSpPr txBox="1"/>
              <p:nvPr/>
            </p:nvSpPr>
            <p:spPr>
              <a:xfrm>
                <a:off x="9203225" y="1308250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Matthew Blackwell</a:t>
                </a:r>
                <a:endParaRPr sz="654"/>
              </a:p>
            </p:txBody>
          </p:sp>
          <p:sp>
            <p:nvSpPr>
              <p:cNvPr id="108" name="Google Shape;108;g3ba7ee5132b_3_106"/>
              <p:cNvSpPr txBox="1"/>
              <p:nvPr/>
            </p:nvSpPr>
            <p:spPr>
              <a:xfrm>
                <a:off x="9203225" y="1597875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Wyatt Johnson</a:t>
                </a:r>
                <a:endParaRPr sz="654"/>
              </a:p>
            </p:txBody>
          </p:sp>
          <p:sp>
            <p:nvSpPr>
              <p:cNvPr id="109" name="Google Shape;109;g3ba7ee5132b_3_106"/>
              <p:cNvSpPr txBox="1"/>
              <p:nvPr/>
            </p:nvSpPr>
            <p:spPr>
              <a:xfrm>
                <a:off x="9203225" y="1887500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Mitchell Hoffman</a:t>
                </a:r>
                <a:endParaRPr sz="654"/>
              </a:p>
            </p:txBody>
          </p:sp>
        </p:grpSp>
        <p:cxnSp>
          <p:nvCxnSpPr>
            <p:cNvPr id="110" name="Google Shape;110;g3ba7ee5132b_3_106"/>
            <p:cNvCxnSpPr/>
            <p:nvPr/>
          </p:nvCxnSpPr>
          <p:spPr>
            <a:xfrm flipH="1" rot="10800000">
              <a:off x="2130050" y="3530475"/>
              <a:ext cx="366900" cy="63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" name="Google Shape;111;g3ba7ee5132b_3_106"/>
            <p:cNvSpPr txBox="1"/>
            <p:nvPr/>
          </p:nvSpPr>
          <p:spPr>
            <a:xfrm>
              <a:off x="864825" y="903675"/>
              <a:ext cx="33339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75" lIns="54375" spcFirstLastPara="1" rIns="54375" wrap="square" tIns="5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External Casing and Radome</a:t>
              </a:r>
              <a:endParaRPr sz="832"/>
            </a:p>
          </p:txBody>
        </p:sp>
        <p:cxnSp>
          <p:nvCxnSpPr>
            <p:cNvPr id="112" name="Google Shape;112;g3ba7ee5132b_3_106"/>
            <p:cNvCxnSpPr>
              <a:endCxn id="98" idx="1"/>
            </p:cNvCxnSpPr>
            <p:nvPr/>
          </p:nvCxnSpPr>
          <p:spPr>
            <a:xfrm flipH="1" rot="10800000">
              <a:off x="5320425" y="3574600"/>
              <a:ext cx="2137200" cy="1208400"/>
            </a:xfrm>
            <a:prstGeom prst="curvedConnector3">
              <a:avLst>
                <a:gd fmla="val 50000" name="adj1"/>
              </a:avLst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bfdbd9de5_2_3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Major Changes for RADIAN</a:t>
            </a:r>
            <a:endParaRPr/>
          </a:p>
        </p:txBody>
      </p:sp>
      <p:graphicFrame>
        <p:nvGraphicFramePr>
          <p:cNvPr id="118" name="Google Shape;118;g3bbfdbd9de5_2_34"/>
          <p:cNvGraphicFramePr/>
          <p:nvPr/>
        </p:nvGraphicFramePr>
        <p:xfrm>
          <a:off x="685800" y="15977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2590800"/>
                <a:gridCol w="2590800"/>
                <a:gridCol w="25908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Data Subsystem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Physical Subsystem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Wireless Subsystem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Changing from a decision tree model to a </a:t>
                      </a: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Convolutional Neural Network (CNN), </a:t>
                      </a: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causing</a:t>
                      </a: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 a redesign of Data Subsystem.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Redesigned</a:t>
                      </a:r>
                      <a:r>
                        <a:rPr lang="en-US" sz="1350"/>
                        <a:t> the Power PCB</a:t>
                      </a:r>
                      <a:endParaRPr sz="135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No major changes since 403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fdbd9de5_2_6"/>
          <p:cNvSpPr txBox="1"/>
          <p:nvPr>
            <p:ph type="title"/>
          </p:nvPr>
        </p:nvSpPr>
        <p:spPr>
          <a:xfrm>
            <a:off x="3581825" y="91900"/>
            <a:ext cx="63609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RADIAN Timeline</a:t>
            </a:r>
            <a:endParaRPr/>
          </a:p>
        </p:txBody>
      </p:sp>
      <p:grpSp>
        <p:nvGrpSpPr>
          <p:cNvPr id="124" name="Google Shape;124;g3bbfdbd9de5_2_6"/>
          <p:cNvGrpSpPr/>
          <p:nvPr/>
        </p:nvGrpSpPr>
        <p:grpSpPr>
          <a:xfrm>
            <a:off x="278427" y="1037313"/>
            <a:ext cx="3949006" cy="3789478"/>
            <a:chOff x="1631950" y="293700"/>
            <a:chExt cx="6054900" cy="5810300"/>
          </a:xfrm>
        </p:grpSpPr>
        <p:sp>
          <p:nvSpPr>
            <p:cNvPr id="125" name="Google Shape;125;g3bbfdbd9de5_2_6"/>
            <p:cNvSpPr/>
            <p:nvPr/>
          </p:nvSpPr>
          <p:spPr>
            <a:xfrm>
              <a:off x="3444900" y="293700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26" name="Google Shape;126;g3bbfdbd9de5_2_6"/>
            <p:cNvSpPr/>
            <p:nvPr/>
          </p:nvSpPr>
          <p:spPr>
            <a:xfrm>
              <a:off x="3444900" y="1311288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27" name="Google Shape;127;g3bbfdbd9de5_2_6"/>
            <p:cNvSpPr/>
            <p:nvPr/>
          </p:nvSpPr>
          <p:spPr>
            <a:xfrm>
              <a:off x="3444900" y="2328875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28" name="Google Shape;128;g3bbfdbd9de5_2_6"/>
            <p:cNvSpPr/>
            <p:nvPr/>
          </p:nvSpPr>
          <p:spPr>
            <a:xfrm>
              <a:off x="3444900" y="3346450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29" name="Google Shape;129;g3bbfdbd9de5_2_6"/>
            <p:cNvSpPr/>
            <p:nvPr/>
          </p:nvSpPr>
          <p:spPr>
            <a:xfrm>
              <a:off x="3444900" y="4364025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30" name="Google Shape;130;g3bbfdbd9de5_2_6"/>
            <p:cNvSpPr/>
            <p:nvPr/>
          </p:nvSpPr>
          <p:spPr>
            <a:xfrm>
              <a:off x="3444900" y="5381600"/>
              <a:ext cx="2254200" cy="7224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31" name="Google Shape;131;g3bbfdbd9de5_2_6"/>
            <p:cNvSpPr txBox="1"/>
            <p:nvPr/>
          </p:nvSpPr>
          <p:spPr>
            <a:xfrm>
              <a:off x="3611550" y="420750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Planning</a:t>
              </a:r>
              <a:endParaRPr sz="913"/>
            </a:p>
          </p:txBody>
        </p:sp>
        <p:sp>
          <p:nvSpPr>
            <p:cNvPr id="132" name="Google Shape;132;g3bbfdbd9de5_2_6"/>
            <p:cNvSpPr txBox="1"/>
            <p:nvPr/>
          </p:nvSpPr>
          <p:spPr>
            <a:xfrm>
              <a:off x="3611550" y="1438338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Designing</a:t>
              </a:r>
              <a:endParaRPr sz="913"/>
            </a:p>
          </p:txBody>
        </p:sp>
        <p:sp>
          <p:nvSpPr>
            <p:cNvPr id="133" name="Google Shape;133;g3bbfdbd9de5_2_6"/>
            <p:cNvSpPr txBox="1"/>
            <p:nvPr/>
          </p:nvSpPr>
          <p:spPr>
            <a:xfrm>
              <a:off x="3611550" y="2455925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Subsystem Testing</a:t>
              </a:r>
              <a:endParaRPr sz="913"/>
            </a:p>
          </p:txBody>
        </p:sp>
        <p:sp>
          <p:nvSpPr>
            <p:cNvPr id="134" name="Google Shape;134;g3bbfdbd9de5_2_6"/>
            <p:cNvSpPr txBox="1"/>
            <p:nvPr/>
          </p:nvSpPr>
          <p:spPr>
            <a:xfrm>
              <a:off x="3611550" y="3473500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Integration</a:t>
              </a:r>
              <a:endParaRPr sz="913"/>
            </a:p>
          </p:txBody>
        </p:sp>
        <p:sp>
          <p:nvSpPr>
            <p:cNvPr id="135" name="Google Shape;135;g3bbfdbd9de5_2_6"/>
            <p:cNvSpPr txBox="1"/>
            <p:nvPr/>
          </p:nvSpPr>
          <p:spPr>
            <a:xfrm>
              <a:off x="3611550" y="4491075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System Testing</a:t>
              </a:r>
              <a:endParaRPr sz="913"/>
            </a:p>
          </p:txBody>
        </p:sp>
        <p:sp>
          <p:nvSpPr>
            <p:cNvPr id="136" name="Google Shape;136;g3bbfdbd9de5_2_6"/>
            <p:cNvSpPr txBox="1"/>
            <p:nvPr/>
          </p:nvSpPr>
          <p:spPr>
            <a:xfrm>
              <a:off x="3611550" y="5508650"/>
              <a:ext cx="19209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System Demo</a:t>
              </a:r>
              <a:endParaRPr sz="913"/>
            </a:p>
          </p:txBody>
        </p:sp>
        <p:cxnSp>
          <p:nvCxnSpPr>
            <p:cNvPr id="137" name="Google Shape;137;g3bbfdbd9de5_2_6"/>
            <p:cNvCxnSpPr/>
            <p:nvPr/>
          </p:nvCxnSpPr>
          <p:spPr>
            <a:xfrm flipH="1" rot="10800000">
              <a:off x="2807875" y="2662875"/>
              <a:ext cx="636900" cy="300"/>
            </a:xfrm>
            <a:prstGeom prst="straightConnector1">
              <a:avLst/>
            </a:prstGeom>
            <a:noFill/>
            <a:ln cap="flat" cmpd="sng" w="62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8" name="Google Shape;138;g3bbfdbd9de5_2_6"/>
            <p:cNvCxnSpPr/>
            <p:nvPr/>
          </p:nvCxnSpPr>
          <p:spPr>
            <a:xfrm flipH="1" rot="10800000">
              <a:off x="2807875" y="1672350"/>
              <a:ext cx="636900" cy="300"/>
            </a:xfrm>
            <a:prstGeom prst="straightConnector1">
              <a:avLst/>
            </a:prstGeom>
            <a:noFill/>
            <a:ln cap="flat" cmpd="sng" w="62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g3bbfdbd9de5_2_6"/>
            <p:cNvCxnSpPr/>
            <p:nvPr/>
          </p:nvCxnSpPr>
          <p:spPr>
            <a:xfrm flipH="1">
              <a:off x="5699025" y="2656525"/>
              <a:ext cx="835200" cy="6600"/>
            </a:xfrm>
            <a:prstGeom prst="straightConnector1">
              <a:avLst/>
            </a:prstGeom>
            <a:noFill/>
            <a:ln cap="flat" cmpd="sng" w="62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" name="Google Shape;140;g3bbfdbd9de5_2_6"/>
            <p:cNvSpPr/>
            <p:nvPr/>
          </p:nvSpPr>
          <p:spPr>
            <a:xfrm>
              <a:off x="1663700" y="1438350"/>
              <a:ext cx="1063800" cy="4683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41" name="Google Shape;141;g3bbfdbd9de5_2_6"/>
            <p:cNvSpPr/>
            <p:nvPr/>
          </p:nvSpPr>
          <p:spPr>
            <a:xfrm>
              <a:off x="1631950" y="2428875"/>
              <a:ext cx="1063800" cy="4683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42" name="Google Shape;142;g3bbfdbd9de5_2_6"/>
            <p:cNvSpPr/>
            <p:nvPr/>
          </p:nvSpPr>
          <p:spPr>
            <a:xfrm>
              <a:off x="6623050" y="2425675"/>
              <a:ext cx="1063800" cy="4683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6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  <p:sp>
          <p:nvSpPr>
            <p:cNvPr id="143" name="Google Shape;143;g3bbfdbd9de5_2_6"/>
            <p:cNvSpPr txBox="1"/>
            <p:nvPr/>
          </p:nvSpPr>
          <p:spPr>
            <a:xfrm>
              <a:off x="1751350" y="1482100"/>
              <a:ext cx="8250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Data</a:t>
              </a:r>
              <a:endParaRPr sz="913"/>
            </a:p>
          </p:txBody>
        </p:sp>
        <p:sp>
          <p:nvSpPr>
            <p:cNvPr id="144" name="Google Shape;144;g3bbfdbd9de5_2_6"/>
            <p:cNvSpPr txBox="1"/>
            <p:nvPr/>
          </p:nvSpPr>
          <p:spPr>
            <a:xfrm>
              <a:off x="1725850" y="2469050"/>
              <a:ext cx="8760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Wireless</a:t>
              </a:r>
              <a:endParaRPr sz="913"/>
            </a:p>
          </p:txBody>
        </p:sp>
        <p:sp>
          <p:nvSpPr>
            <p:cNvPr id="145" name="Google Shape;145;g3bbfdbd9de5_2_6"/>
            <p:cNvSpPr txBox="1"/>
            <p:nvPr/>
          </p:nvSpPr>
          <p:spPr>
            <a:xfrm>
              <a:off x="6705850" y="2469050"/>
              <a:ext cx="8982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13"/>
                <a:t>Physical</a:t>
              </a:r>
              <a:endParaRPr sz="913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3"/>
            </a:p>
          </p:txBody>
        </p:sp>
      </p:grpSp>
      <p:sp>
        <p:nvSpPr>
          <p:cNvPr id="146" name="Google Shape;146;g3bbfdbd9de5_2_6"/>
          <p:cNvSpPr txBox="1"/>
          <p:nvPr/>
        </p:nvSpPr>
        <p:spPr>
          <a:xfrm>
            <a:off x="4862750" y="1553413"/>
            <a:ext cx="3985500" cy="27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Switching ML models has </a:t>
            </a:r>
            <a:r>
              <a:rPr lang="en-US" sz="1600">
                <a:solidFill>
                  <a:schemeClr val="dk1"/>
                </a:solidFill>
              </a:rPr>
              <a:t>caused</a:t>
            </a:r>
            <a:r>
              <a:rPr lang="en-US" sz="1600">
                <a:solidFill>
                  <a:schemeClr val="dk1"/>
                </a:solidFill>
              </a:rPr>
              <a:t> the Data Subsystem to be shifted back into the design phase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Ongoing PCB testing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Improving code for radar to get more accurate data for integration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fdbd9de5_2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Subsystem</a:t>
            </a:r>
            <a:endParaRPr sz="2980"/>
          </a:p>
        </p:txBody>
      </p:sp>
      <p:graphicFrame>
        <p:nvGraphicFramePr>
          <p:cNvPr id="152" name="Google Shape;152;g3bbfdbd9de5_2_0"/>
          <p:cNvGraphicFramePr/>
          <p:nvPr/>
        </p:nvGraphicFramePr>
        <p:xfrm>
          <a:off x="685800" y="15977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Changes </a:t>
                      </a:r>
                      <a:r>
                        <a:rPr lang="en-US" sz="1350" u="none" cap="none" strike="noStrike"/>
                        <a:t>since 403                          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~35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</a:t>
                      </a:r>
                      <a:r>
                        <a:rPr lang="en-US" sz="1350"/>
                        <a:t>progress </a:t>
                      </a:r>
                      <a:r>
                        <a:rPr lang="en-US" sz="1350" u="none" cap="none" strike="noStrike"/>
                        <a:t>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The previous ML model was not </a:t>
                      </a:r>
                      <a:r>
                        <a:rPr lang="en-US" sz="1350"/>
                        <a:t>sufficient</a:t>
                      </a:r>
                      <a:r>
                        <a:rPr lang="en-US" sz="1350"/>
                        <a:t> for 404, in both </a:t>
                      </a:r>
                      <a:r>
                        <a:rPr lang="en-US" sz="1350"/>
                        <a:t>technical</a:t>
                      </a:r>
                      <a:r>
                        <a:rPr lang="en-US" sz="1350"/>
                        <a:t> merit and </a:t>
                      </a:r>
                      <a:r>
                        <a:rPr lang="en-US" sz="1350"/>
                        <a:t>reliability</a:t>
                      </a:r>
                      <a:r>
                        <a:rPr lang="en-US" sz="1350"/>
                        <a:t> when it comes time to </a:t>
                      </a:r>
                      <a:r>
                        <a:rPr lang="en-US" sz="1350"/>
                        <a:t>integrate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Researched new ML models for RADIAN, landed on a CNN for reliability and ability to learn different features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Documented how data frames will work 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Code a baseline model that can be improved as we start to </a:t>
                      </a:r>
                      <a:r>
                        <a:rPr lang="en-US" sz="1350"/>
                        <a:t>integrate 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Integrate with Wireless to communicate through the Gotify server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Start baseline trials and data cleaning to train ML model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Document process for recording trials</a:t>
                      </a:r>
                      <a:endParaRPr sz="135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bfdbd9de5_2_46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Subsystem</a:t>
            </a:r>
            <a:endParaRPr sz="2980"/>
          </a:p>
        </p:txBody>
      </p:sp>
      <p:grpSp>
        <p:nvGrpSpPr>
          <p:cNvPr id="158" name="Google Shape;158;g3bbfdbd9de5_2_46"/>
          <p:cNvGrpSpPr/>
          <p:nvPr/>
        </p:nvGrpSpPr>
        <p:grpSpPr>
          <a:xfrm>
            <a:off x="137515" y="1096103"/>
            <a:ext cx="5420071" cy="2951291"/>
            <a:chOff x="523875" y="633050"/>
            <a:chExt cx="7175100" cy="3906925"/>
          </a:xfrm>
        </p:grpSpPr>
        <p:sp>
          <p:nvSpPr>
            <p:cNvPr id="159" name="Google Shape;159;g3bbfdbd9de5_2_46"/>
            <p:cNvSpPr/>
            <p:nvPr/>
          </p:nvSpPr>
          <p:spPr>
            <a:xfrm>
              <a:off x="523875" y="635000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60" name="Google Shape;160;g3bbfdbd9de5_2_46"/>
            <p:cNvSpPr txBox="1"/>
            <p:nvPr/>
          </p:nvSpPr>
          <p:spPr>
            <a:xfrm>
              <a:off x="674625" y="635000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Gather Data</a:t>
              </a:r>
              <a:endParaRPr b="1" sz="906"/>
            </a:p>
          </p:txBody>
        </p:sp>
        <p:sp>
          <p:nvSpPr>
            <p:cNvPr id="161" name="Google Shape;161;g3bbfdbd9de5_2_46"/>
            <p:cNvSpPr txBox="1"/>
            <p:nvPr/>
          </p:nvSpPr>
          <p:spPr>
            <a:xfrm>
              <a:off x="642975" y="837350"/>
              <a:ext cx="1761900" cy="10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Scan a variety of falls (sitting, standing, laying down, etc.)</a:t>
              </a:r>
              <a:endParaRPr sz="90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Scan a variety of non-falls (standing still, sitting still, walking, sleeping, etc.)</a:t>
              </a:r>
              <a:endParaRPr sz="906"/>
            </a:p>
          </p:txBody>
        </p:sp>
        <p:cxnSp>
          <p:nvCxnSpPr>
            <p:cNvPr id="162" name="Google Shape;162;g3bbfdbd9de5_2_46"/>
            <p:cNvCxnSpPr>
              <a:stCxn id="159" idx="3"/>
            </p:cNvCxnSpPr>
            <p:nvPr/>
          </p:nvCxnSpPr>
          <p:spPr>
            <a:xfrm flipH="1" rot="10800000">
              <a:off x="2523975" y="1468550"/>
              <a:ext cx="587400" cy="3900"/>
            </a:xfrm>
            <a:prstGeom prst="straightConnector1">
              <a:avLst/>
            </a:prstGeom>
            <a:noFill/>
            <a:ln cap="flat" cmpd="sng" w="72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g3bbfdbd9de5_2_46"/>
            <p:cNvSpPr/>
            <p:nvPr/>
          </p:nvSpPr>
          <p:spPr>
            <a:xfrm>
              <a:off x="3111375" y="635000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64" name="Google Shape;164;g3bbfdbd9de5_2_46"/>
            <p:cNvSpPr txBox="1"/>
            <p:nvPr/>
          </p:nvSpPr>
          <p:spPr>
            <a:xfrm>
              <a:off x="3262125" y="635000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Label Data</a:t>
              </a:r>
              <a:endParaRPr b="1" sz="906"/>
            </a:p>
          </p:txBody>
        </p:sp>
        <p:sp>
          <p:nvSpPr>
            <p:cNvPr id="165" name="Google Shape;165;g3bbfdbd9de5_2_46"/>
            <p:cNvSpPr txBox="1"/>
            <p:nvPr/>
          </p:nvSpPr>
          <p:spPr>
            <a:xfrm>
              <a:off x="3230475" y="1097300"/>
              <a:ext cx="1761900" cy="75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Labeling each of the falls and non-falls and how they occurred</a:t>
              </a:r>
              <a:endParaRPr sz="906"/>
            </a:p>
          </p:txBody>
        </p:sp>
        <p:cxnSp>
          <p:nvCxnSpPr>
            <p:cNvPr id="166" name="Google Shape;166;g3bbfdbd9de5_2_46"/>
            <p:cNvCxnSpPr/>
            <p:nvPr/>
          </p:nvCxnSpPr>
          <p:spPr>
            <a:xfrm flipH="1" rot="10800000">
              <a:off x="5111475" y="1468550"/>
              <a:ext cx="587400" cy="3900"/>
            </a:xfrm>
            <a:prstGeom prst="straightConnector1">
              <a:avLst/>
            </a:prstGeom>
            <a:noFill/>
            <a:ln cap="flat" cmpd="sng" w="72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" name="Google Shape;167;g3bbfdbd9de5_2_46"/>
            <p:cNvSpPr/>
            <p:nvPr/>
          </p:nvSpPr>
          <p:spPr>
            <a:xfrm>
              <a:off x="5698875" y="633050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68" name="Google Shape;168;g3bbfdbd9de5_2_46"/>
            <p:cNvSpPr txBox="1"/>
            <p:nvPr/>
          </p:nvSpPr>
          <p:spPr>
            <a:xfrm>
              <a:off x="5849625" y="635000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Clean Data</a:t>
              </a:r>
              <a:endParaRPr b="1" sz="906"/>
            </a:p>
          </p:txBody>
        </p:sp>
        <p:sp>
          <p:nvSpPr>
            <p:cNvPr id="169" name="Google Shape;169;g3bbfdbd9de5_2_46"/>
            <p:cNvSpPr txBox="1"/>
            <p:nvPr/>
          </p:nvSpPr>
          <p:spPr>
            <a:xfrm>
              <a:off x="5817975" y="992300"/>
              <a:ext cx="1761900" cy="9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Removing the outliers, unnecessary data, missing, and irregular data</a:t>
              </a:r>
              <a:endParaRPr sz="906"/>
            </a:p>
          </p:txBody>
        </p:sp>
        <p:cxnSp>
          <p:nvCxnSpPr>
            <p:cNvPr id="170" name="Google Shape;170;g3bbfdbd9de5_2_46"/>
            <p:cNvCxnSpPr/>
            <p:nvPr/>
          </p:nvCxnSpPr>
          <p:spPr>
            <a:xfrm flipH="1">
              <a:off x="6698325" y="2307950"/>
              <a:ext cx="1200" cy="589800"/>
            </a:xfrm>
            <a:prstGeom prst="straightConnector1">
              <a:avLst/>
            </a:prstGeom>
            <a:noFill/>
            <a:ln cap="flat" cmpd="sng" w="72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" name="Google Shape;171;g3bbfdbd9de5_2_46"/>
            <p:cNvSpPr/>
            <p:nvPr/>
          </p:nvSpPr>
          <p:spPr>
            <a:xfrm>
              <a:off x="5698875" y="2865075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72" name="Google Shape;172;g3bbfdbd9de5_2_46"/>
            <p:cNvSpPr txBox="1"/>
            <p:nvPr/>
          </p:nvSpPr>
          <p:spPr>
            <a:xfrm>
              <a:off x="5849625" y="2865075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Feature Selection</a:t>
              </a:r>
              <a:endParaRPr b="1" sz="906"/>
            </a:p>
          </p:txBody>
        </p:sp>
        <p:sp>
          <p:nvSpPr>
            <p:cNvPr id="173" name="Google Shape;173;g3bbfdbd9de5_2_46"/>
            <p:cNvSpPr txBox="1"/>
            <p:nvPr/>
          </p:nvSpPr>
          <p:spPr>
            <a:xfrm>
              <a:off x="5817975" y="3063550"/>
              <a:ext cx="1761900" cy="14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What constitutes a fall?</a:t>
              </a:r>
              <a:endParaRPr sz="90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Acceleration, Velocity,</a:t>
              </a:r>
              <a:endParaRPr sz="90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Jerk, Duration of Movement, Height Change, Posture after Event</a:t>
              </a:r>
              <a:endParaRPr sz="906"/>
            </a:p>
          </p:txBody>
        </p:sp>
        <p:cxnSp>
          <p:nvCxnSpPr>
            <p:cNvPr id="174" name="Google Shape;174;g3bbfdbd9de5_2_46"/>
            <p:cNvCxnSpPr/>
            <p:nvPr/>
          </p:nvCxnSpPr>
          <p:spPr>
            <a:xfrm flipH="1" rot="10800000">
              <a:off x="5111475" y="3700575"/>
              <a:ext cx="587400" cy="3900"/>
            </a:xfrm>
            <a:prstGeom prst="straightConnector1">
              <a:avLst/>
            </a:prstGeom>
            <a:noFill/>
            <a:ln cap="flat" cmpd="sng" w="72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75" name="Google Shape;175;g3bbfdbd9de5_2_46"/>
            <p:cNvSpPr/>
            <p:nvPr/>
          </p:nvSpPr>
          <p:spPr>
            <a:xfrm>
              <a:off x="3111375" y="2865075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76" name="Google Shape;176;g3bbfdbd9de5_2_46"/>
            <p:cNvSpPr txBox="1"/>
            <p:nvPr/>
          </p:nvSpPr>
          <p:spPr>
            <a:xfrm>
              <a:off x="3262125" y="2865075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Train Data</a:t>
              </a:r>
              <a:endParaRPr b="1" sz="906"/>
            </a:p>
          </p:txBody>
        </p:sp>
        <p:sp>
          <p:nvSpPr>
            <p:cNvPr id="177" name="Google Shape;177;g3bbfdbd9de5_2_46"/>
            <p:cNvSpPr txBox="1"/>
            <p:nvPr/>
          </p:nvSpPr>
          <p:spPr>
            <a:xfrm>
              <a:off x="3230475" y="3398950"/>
              <a:ext cx="1761900" cy="75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Create a training set, validation set, and testing set of our data</a:t>
              </a:r>
              <a:endParaRPr sz="906"/>
            </a:p>
          </p:txBody>
        </p:sp>
        <p:cxnSp>
          <p:nvCxnSpPr>
            <p:cNvPr id="178" name="Google Shape;178;g3bbfdbd9de5_2_46"/>
            <p:cNvCxnSpPr/>
            <p:nvPr/>
          </p:nvCxnSpPr>
          <p:spPr>
            <a:xfrm flipH="1" rot="10800000">
              <a:off x="2523975" y="3700575"/>
              <a:ext cx="587400" cy="3900"/>
            </a:xfrm>
            <a:prstGeom prst="straightConnector1">
              <a:avLst/>
            </a:prstGeom>
            <a:noFill/>
            <a:ln cap="flat" cmpd="sng" w="72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79" name="Google Shape;179;g3bbfdbd9de5_2_46"/>
            <p:cNvSpPr/>
            <p:nvPr/>
          </p:nvSpPr>
          <p:spPr>
            <a:xfrm>
              <a:off x="523875" y="2865075"/>
              <a:ext cx="2000100" cy="1674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7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/>
            </a:p>
          </p:txBody>
        </p:sp>
        <p:sp>
          <p:nvSpPr>
            <p:cNvPr id="180" name="Google Shape;180;g3bbfdbd9de5_2_46"/>
            <p:cNvSpPr txBox="1"/>
            <p:nvPr/>
          </p:nvSpPr>
          <p:spPr>
            <a:xfrm>
              <a:off x="674625" y="2865075"/>
              <a:ext cx="16986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6"/>
                <a:t>Report Results</a:t>
              </a:r>
              <a:endParaRPr b="1" sz="906"/>
            </a:p>
          </p:txBody>
        </p:sp>
        <p:sp>
          <p:nvSpPr>
            <p:cNvPr id="181" name="Google Shape;181;g3bbfdbd9de5_2_46"/>
            <p:cNvSpPr txBox="1"/>
            <p:nvPr/>
          </p:nvSpPr>
          <p:spPr>
            <a:xfrm>
              <a:off x="642975" y="3356800"/>
              <a:ext cx="1761900" cy="10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6"/>
                <a:t>- Using a CNN, report results within a ±5% accuracy</a:t>
              </a:r>
              <a:endParaRPr sz="906"/>
            </a:p>
          </p:txBody>
        </p:sp>
      </p:grpSp>
      <p:pic>
        <p:nvPicPr>
          <p:cNvPr id="182" name="Google Shape;182;g3bbfdbd9de5_2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3950" y="590849"/>
            <a:ext cx="3220051" cy="45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bfdbd9de5_2_106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Gantt Chart</a:t>
            </a:r>
            <a:endParaRPr sz="2980"/>
          </a:p>
        </p:txBody>
      </p:sp>
      <p:pic>
        <p:nvPicPr>
          <p:cNvPr id="188" name="Google Shape;188;g3bbfdbd9de5_2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1583370"/>
            <a:ext cx="84201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bbfdbd9de5_2_106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Data’s Two Week Plan</a:t>
            </a:r>
            <a:endParaRPr sz="29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fab8d9dfe_1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Owner</a:t>
            </a:r>
            <a:endParaRPr sz="2980"/>
          </a:p>
        </p:txBody>
      </p:sp>
      <p:graphicFrame>
        <p:nvGraphicFramePr>
          <p:cNvPr id="195" name="Google Shape;195;g3bfab8d9dfe_1_0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                          </a:t>
                      </a: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  </a:t>
                      </a:r>
                      <a:r>
                        <a:rPr lang="en-US" sz="1350" u="none" cap="none" strike="noStrike">
                          <a:solidFill>
                            <a:srgbClr val="C00000"/>
                          </a:solidFill>
                        </a:rPr>
                        <a:t> ~20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The code for the radar’s data processing can track an object (person) and provide x, y, z, and velocity data for it at each </a:t>
                      </a:r>
                      <a:r>
                        <a:rPr lang="en-US" sz="1350"/>
                        <a:t>time frame through UART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The mobile app has a basic UI for the caregiver with simulated test alerts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Improve radar’s data processing code to provide more accurate data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Debug what the script outputs to have a more </a:t>
                      </a:r>
                      <a:r>
                        <a:rPr lang="en-US" sz="1350"/>
                        <a:t>seamless</a:t>
                      </a:r>
                      <a:r>
                        <a:rPr lang="en-US" sz="1350"/>
                        <a:t> integration with the ML </a:t>
                      </a:r>
                      <a:r>
                        <a:rPr lang="en-US" sz="1350"/>
                        <a:t>model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fab8d9dfe_1_6"/>
          <p:cNvSpPr txBox="1"/>
          <p:nvPr>
            <p:ph type="title"/>
          </p:nvPr>
        </p:nvSpPr>
        <p:spPr>
          <a:xfrm>
            <a:off x="3699750" y="77575"/>
            <a:ext cx="5379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Subsystem</a:t>
            </a:r>
            <a:endParaRPr sz="2980"/>
          </a:p>
        </p:txBody>
      </p:sp>
      <p:pic>
        <p:nvPicPr>
          <p:cNvPr id="201" name="Google Shape;201;g3bfab8d9dfe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925" y="1936803"/>
            <a:ext cx="3454950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bfab8d9dfe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451" y="809308"/>
            <a:ext cx="1802875" cy="402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bfab8d9dfe_1_6"/>
          <p:cNvSpPr txBox="1"/>
          <p:nvPr/>
        </p:nvSpPr>
        <p:spPr>
          <a:xfrm>
            <a:off x="2378250" y="1600038"/>
            <a:ext cx="4387500" cy="1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Radar is able to </a:t>
            </a:r>
            <a:r>
              <a:rPr lang="en-US" sz="1350">
                <a:solidFill>
                  <a:schemeClr val="dk1"/>
                </a:solidFill>
              </a:rPr>
              <a:t>receive</a:t>
            </a:r>
            <a:r>
              <a:rPr lang="en-US" sz="1350">
                <a:solidFill>
                  <a:schemeClr val="dk1"/>
                </a:solidFill>
              </a:rPr>
              <a:t> a configuration file and the code for the data </a:t>
            </a:r>
            <a:r>
              <a:rPr lang="en-US" sz="1350">
                <a:solidFill>
                  <a:schemeClr val="dk1"/>
                </a:solidFill>
              </a:rPr>
              <a:t>processing</a:t>
            </a:r>
            <a:r>
              <a:rPr lang="en-US" sz="1350">
                <a:solidFill>
                  <a:schemeClr val="dk1"/>
                </a:solidFill>
              </a:rPr>
              <a:t> produces positional data and velocity data with </a:t>
            </a:r>
            <a:r>
              <a:rPr lang="en-US" sz="1350">
                <a:solidFill>
                  <a:schemeClr val="dk1"/>
                </a:solidFill>
              </a:rPr>
              <a:t>timestamps 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The data processing needs to be more accurate and and output needs to be altered for easier integration with the ML model.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Mobile app can test simulated alerts, but the fall log needs debugging so it can log the alerts and accurately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Add more features for the caregiver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fab8d9dfe_1_15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Gantt Chart</a:t>
            </a:r>
            <a:endParaRPr sz="2980"/>
          </a:p>
        </p:txBody>
      </p:sp>
      <p:sp>
        <p:nvSpPr>
          <p:cNvPr id="209" name="Google Shape;209;g3bfab8d9dfe_1_15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Wireless’s Two Week Plan</a:t>
            </a:r>
            <a:endParaRPr sz="2980"/>
          </a:p>
        </p:txBody>
      </p:sp>
      <p:graphicFrame>
        <p:nvGraphicFramePr>
          <p:cNvPr id="210" name="Google Shape;210;g3bfab8d9dfe_1_15"/>
          <p:cNvGraphicFramePr/>
          <p:nvPr/>
        </p:nvGraphicFramePr>
        <p:xfrm>
          <a:off x="280988" y="202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2867025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WIRELESS </a:t>
                      </a:r>
                      <a:r>
                        <a:rPr lang="en-US" sz="1000"/>
                        <a:t>GANTT</a:t>
                      </a:r>
                      <a:r>
                        <a:rPr lang="en-US" sz="1000"/>
                        <a:t> CHART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01/12/26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01/19/26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01/26/26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02/02/26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02/06/26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02/16/26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Review the code for mobile app and radar to see where it was left off and decide what works still needs to be done and/or fixed.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Research ways to improve what is wanted/needed from radar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Debug and improve radar's data processing code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Begin to integrate with ML model and train with the radar's data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Test alerts going to the mobile app, debug/improve from there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bfdbd9de5_0_27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 Subsystem</a:t>
            </a:r>
            <a:endParaRPr sz="2980"/>
          </a:p>
        </p:txBody>
      </p:sp>
      <p:graphicFrame>
        <p:nvGraphicFramePr>
          <p:cNvPr id="216" name="Google Shape;216;g3bbfdbd9de5_0_27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                          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~40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Assembled Rev 2 Power Battery PCB.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Fully tested the buck converter using a bench power supply. 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Verified the battery protection circuit is not tripped under no-load conditions.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Confirmed the buck converter operates correctly at no load while simulating two series 18650 cells.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Continue</a:t>
                      </a:r>
                      <a:r>
                        <a:rPr lang="en-US" sz="1350"/>
                        <a:t> MP2615 charger bring-up.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Validate full range of 2S2P operation (8.4–6.0 V) with stable 5V.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Confirm S-8252 UV/OC trip + recovery.</a:t>
                      </a:r>
                      <a:endParaRPr sz="1350"/>
                    </a:p>
                    <a:p>
                      <a:pPr indent="-3143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Write a brief test report (measurements, pass/fail, photos, issues).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bfdbd9de5_0_33"/>
          <p:cNvSpPr txBox="1"/>
          <p:nvPr>
            <p:ph type="title"/>
          </p:nvPr>
        </p:nvSpPr>
        <p:spPr>
          <a:xfrm>
            <a:off x="457200" y="6974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 Subsystem</a:t>
            </a:r>
            <a:endParaRPr sz="2980"/>
          </a:p>
        </p:txBody>
      </p:sp>
      <p:grpSp>
        <p:nvGrpSpPr>
          <p:cNvPr id="222" name="Google Shape;222;g3bbfdbd9de5_0_33"/>
          <p:cNvGrpSpPr/>
          <p:nvPr/>
        </p:nvGrpSpPr>
        <p:grpSpPr>
          <a:xfrm>
            <a:off x="546546" y="1733808"/>
            <a:ext cx="5499610" cy="2878068"/>
            <a:chOff x="83000" y="1424601"/>
            <a:chExt cx="6406069" cy="3352438"/>
          </a:xfrm>
        </p:grpSpPr>
        <p:sp>
          <p:nvSpPr>
            <p:cNvPr id="223" name="Google Shape;223;g3bbfdbd9de5_0_33"/>
            <p:cNvSpPr/>
            <p:nvPr/>
          </p:nvSpPr>
          <p:spPr>
            <a:xfrm>
              <a:off x="83000" y="1424601"/>
              <a:ext cx="13362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Barrel Jack /  12V DC Input</a:t>
              </a:r>
              <a:endParaRPr b="1" sz="1201">
                <a:solidFill>
                  <a:schemeClr val="lt1"/>
                </a:solidFill>
              </a:endParaRPr>
            </a:p>
          </p:txBody>
        </p:sp>
        <p:sp>
          <p:nvSpPr>
            <p:cNvPr id="224" name="Google Shape;224;g3bbfdbd9de5_0_33"/>
            <p:cNvSpPr/>
            <p:nvPr/>
          </p:nvSpPr>
          <p:spPr>
            <a:xfrm>
              <a:off x="83000" y="2571739"/>
              <a:ext cx="13362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MP2615 Charger IC</a:t>
              </a:r>
              <a:endParaRPr b="1" sz="1201">
                <a:solidFill>
                  <a:schemeClr val="lt1"/>
                </a:solidFill>
              </a:endParaRPr>
            </a:p>
          </p:txBody>
        </p:sp>
        <p:sp>
          <p:nvSpPr>
            <p:cNvPr id="225" name="Google Shape;225;g3bbfdbd9de5_0_33"/>
            <p:cNvSpPr/>
            <p:nvPr/>
          </p:nvSpPr>
          <p:spPr>
            <a:xfrm>
              <a:off x="1705375" y="3986839"/>
              <a:ext cx="13362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2S2P Li-Ion 18650 batteries</a:t>
              </a:r>
              <a:endParaRPr b="1" sz="1201">
                <a:solidFill>
                  <a:schemeClr val="lt1"/>
                </a:solidFill>
              </a:endParaRPr>
            </a:p>
          </p:txBody>
        </p:sp>
        <p:sp>
          <p:nvSpPr>
            <p:cNvPr id="226" name="Google Shape;226;g3bbfdbd9de5_0_33"/>
            <p:cNvSpPr/>
            <p:nvPr/>
          </p:nvSpPr>
          <p:spPr>
            <a:xfrm>
              <a:off x="1705363" y="2571739"/>
              <a:ext cx="13362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Battery </a:t>
              </a:r>
              <a:r>
                <a:rPr b="1" lang="en-US" sz="1201">
                  <a:solidFill>
                    <a:schemeClr val="lt1"/>
                  </a:solidFill>
                </a:rPr>
                <a:t>Protection</a:t>
              </a:r>
              <a:r>
                <a:rPr b="1" lang="en-US" sz="1201">
                  <a:solidFill>
                    <a:schemeClr val="lt1"/>
                  </a:solidFill>
                </a:rPr>
                <a:t> (S-8252)</a:t>
              </a:r>
              <a:endParaRPr b="1" sz="1201">
                <a:solidFill>
                  <a:schemeClr val="lt1"/>
                </a:solidFill>
              </a:endParaRPr>
            </a:p>
          </p:txBody>
        </p:sp>
        <p:sp>
          <p:nvSpPr>
            <p:cNvPr id="227" name="Google Shape;227;g3bbfdbd9de5_0_33"/>
            <p:cNvSpPr/>
            <p:nvPr/>
          </p:nvSpPr>
          <p:spPr>
            <a:xfrm>
              <a:off x="3327725" y="2571739"/>
              <a:ext cx="13362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5V Buck Converter (AP64501)</a:t>
              </a:r>
              <a:endParaRPr b="1" sz="1201">
                <a:solidFill>
                  <a:schemeClr val="lt1"/>
                </a:solidFill>
              </a:endParaRPr>
            </a:p>
          </p:txBody>
        </p:sp>
        <p:sp>
          <p:nvSpPr>
            <p:cNvPr id="228" name="Google Shape;228;g3bbfdbd9de5_0_33"/>
            <p:cNvSpPr/>
            <p:nvPr/>
          </p:nvSpPr>
          <p:spPr>
            <a:xfrm>
              <a:off x="4950069" y="2571738"/>
              <a:ext cx="1539000" cy="790200"/>
            </a:xfrm>
            <a:prstGeom prst="roundRect">
              <a:avLst>
                <a:gd fmla="val 16667" name="adj"/>
              </a:avLst>
            </a:prstGeom>
            <a:solidFill>
              <a:srgbClr val="4A86E8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00" lIns="78500" spcFirstLastPara="1" rIns="78500" wrap="square" tIns="78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1">
                  <a:solidFill>
                    <a:schemeClr val="lt1"/>
                  </a:solidFill>
                </a:rPr>
                <a:t>System 5V Rail (USB-C x2)</a:t>
              </a:r>
              <a:endParaRPr b="1" sz="1201">
                <a:solidFill>
                  <a:schemeClr val="lt1"/>
                </a:solidFill>
              </a:endParaRPr>
            </a:p>
          </p:txBody>
        </p:sp>
        <p:cxnSp>
          <p:nvCxnSpPr>
            <p:cNvPr id="229" name="Google Shape;229;g3bbfdbd9de5_0_33"/>
            <p:cNvCxnSpPr>
              <a:stCxn id="223" idx="2"/>
              <a:endCxn id="224" idx="0"/>
            </p:cNvCxnSpPr>
            <p:nvPr/>
          </p:nvCxnSpPr>
          <p:spPr>
            <a:xfrm>
              <a:off x="751100" y="2214801"/>
              <a:ext cx="0" cy="357000"/>
            </a:xfrm>
            <a:prstGeom prst="straightConnector1">
              <a:avLst/>
            </a:prstGeom>
            <a:noFill/>
            <a:ln cap="flat" cmpd="sng" w="24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0" name="Google Shape;230;g3bbfdbd9de5_0_33"/>
            <p:cNvCxnSpPr>
              <a:stCxn id="224" idx="3"/>
              <a:endCxn id="226" idx="1"/>
            </p:cNvCxnSpPr>
            <p:nvPr/>
          </p:nvCxnSpPr>
          <p:spPr>
            <a:xfrm>
              <a:off x="1419200" y="2966839"/>
              <a:ext cx="286200" cy="0"/>
            </a:xfrm>
            <a:prstGeom prst="straightConnector1">
              <a:avLst/>
            </a:prstGeom>
            <a:noFill/>
            <a:ln cap="flat" cmpd="sng" w="24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1" name="Google Shape;231;g3bbfdbd9de5_0_33"/>
            <p:cNvCxnSpPr>
              <a:stCxn id="226" idx="2"/>
              <a:endCxn id="225" idx="0"/>
            </p:cNvCxnSpPr>
            <p:nvPr/>
          </p:nvCxnSpPr>
          <p:spPr>
            <a:xfrm>
              <a:off x="2373463" y="3361939"/>
              <a:ext cx="0" cy="624900"/>
            </a:xfrm>
            <a:prstGeom prst="straightConnector1">
              <a:avLst/>
            </a:prstGeom>
            <a:noFill/>
            <a:ln cap="flat" cmpd="sng" w="24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2" name="Google Shape;232;g3bbfdbd9de5_0_33"/>
            <p:cNvCxnSpPr>
              <a:stCxn id="226" idx="3"/>
              <a:endCxn id="227" idx="1"/>
            </p:cNvCxnSpPr>
            <p:nvPr/>
          </p:nvCxnSpPr>
          <p:spPr>
            <a:xfrm>
              <a:off x="3041563" y="2966839"/>
              <a:ext cx="286200" cy="0"/>
            </a:xfrm>
            <a:prstGeom prst="straightConnector1">
              <a:avLst/>
            </a:prstGeom>
            <a:noFill/>
            <a:ln cap="flat" cmpd="sng" w="24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g3bbfdbd9de5_0_33"/>
            <p:cNvCxnSpPr>
              <a:stCxn id="227" idx="3"/>
              <a:endCxn id="228" idx="1"/>
            </p:cNvCxnSpPr>
            <p:nvPr/>
          </p:nvCxnSpPr>
          <p:spPr>
            <a:xfrm>
              <a:off x="4663925" y="2966839"/>
              <a:ext cx="286200" cy="0"/>
            </a:xfrm>
            <a:prstGeom prst="straightConnector1">
              <a:avLst/>
            </a:prstGeom>
            <a:noFill/>
            <a:ln cap="flat" cmpd="sng" w="24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234" name="Google Shape;234;g3bbfdbd9de5_0_33"/>
          <p:cNvPicPr preferRelativeResize="0"/>
          <p:nvPr/>
        </p:nvPicPr>
        <p:blipFill rotWithShape="1">
          <a:blip r:embed="rId3">
            <a:alphaModFix/>
          </a:blip>
          <a:srcRect b="15836" l="6678" r="7032" t="12534"/>
          <a:stretch/>
        </p:blipFill>
        <p:spPr>
          <a:xfrm>
            <a:off x="6731550" y="0"/>
            <a:ext cx="2412449" cy="26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bbfdbd9de5_0_33"/>
          <p:cNvPicPr preferRelativeResize="0"/>
          <p:nvPr/>
        </p:nvPicPr>
        <p:blipFill rotWithShape="1">
          <a:blip r:embed="rId4">
            <a:alphaModFix/>
          </a:blip>
          <a:srcRect b="18634" l="8717" r="3401" t="15166"/>
          <a:stretch/>
        </p:blipFill>
        <p:spPr>
          <a:xfrm>
            <a:off x="6731550" y="2720400"/>
            <a:ext cx="2412449" cy="242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bfdbd9de5_1_18"/>
          <p:cNvSpPr txBox="1"/>
          <p:nvPr>
            <p:ph type="title"/>
          </p:nvPr>
        </p:nvSpPr>
        <p:spPr>
          <a:xfrm>
            <a:off x="2540450" y="63275"/>
            <a:ext cx="6497100" cy="60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Buck Converter Load Test</a:t>
            </a:r>
            <a:endParaRPr sz="2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(Vout vs Iout)</a:t>
            </a:r>
            <a:endParaRPr sz="2500"/>
          </a:p>
        </p:txBody>
      </p:sp>
      <p:pic>
        <p:nvPicPr>
          <p:cNvPr id="242" name="Google Shape;242;g3bbfdbd9de5_1_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413" y="924870"/>
            <a:ext cx="6822576" cy="4218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g3bbfdbd9de5_1_18"/>
          <p:cNvGraphicFramePr/>
          <p:nvPr/>
        </p:nvGraphicFramePr>
        <p:xfrm>
          <a:off x="0" y="924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{BB780A51-E3A3-4513-8007-FB26A648CFD7}</a:tableStyleId>
              </a:tblPr>
              <a:tblGrid>
                <a:gridCol w="1160725"/>
                <a:gridCol w="1160725"/>
              </a:tblGrid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Current (A)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Voltage (V)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0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0.25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2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0.50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3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4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1.30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5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1.50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6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1.70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7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1.80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8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1.90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9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0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4.78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1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4.77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2:1"/>
                      </a:ext>
                    </a:extLst>
                  </a:tcPr>
                </a:tc>
              </a:tr>
              <a:tr h="240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2.50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4.70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243:13:1"/>
                      </a:ext>
                    </a:extLst>
                  </a:tcPr>
                </a:tc>
              </a:tr>
            </a:tbl>
          </a:graphicData>
        </a:graphic>
      </p:graphicFrame>
      <p:cxnSp>
        <p:nvCxnSpPr>
          <p:cNvPr id="244" name="Google Shape;244;g3bbfdbd9de5_1_18"/>
          <p:cNvCxnSpPr/>
          <p:nvPr/>
        </p:nvCxnSpPr>
        <p:spPr>
          <a:xfrm flipH="1" rot="10800000">
            <a:off x="3352200" y="4016700"/>
            <a:ext cx="5589600" cy="2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g3bbfdbd9de5_1_18"/>
          <p:cNvSpPr txBox="1"/>
          <p:nvPr/>
        </p:nvSpPr>
        <p:spPr>
          <a:xfrm>
            <a:off x="2835375" y="3891150"/>
            <a:ext cx="6795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4.63</a:t>
            </a:r>
            <a:endParaRPr sz="13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bfdbd9de5_1_36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 Gantt Chart</a:t>
            </a:r>
            <a:endParaRPr sz="2980"/>
          </a:p>
        </p:txBody>
      </p:sp>
      <p:sp>
        <p:nvSpPr>
          <p:cNvPr id="251" name="Google Shape;251;g3bbfdbd9de5_1_36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Physical’s</a:t>
            </a:r>
            <a:r>
              <a:rPr lang="en-US"/>
              <a:t> Two Week Plan</a:t>
            </a:r>
            <a:endParaRPr sz="2980"/>
          </a:p>
        </p:txBody>
      </p:sp>
      <p:pic>
        <p:nvPicPr>
          <p:cNvPr id="252" name="Google Shape;252;g3bbfdbd9de5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88" y="1924175"/>
            <a:ext cx="8933625" cy="19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bfdbd9de5_2_101"/>
          <p:cNvSpPr txBox="1"/>
          <p:nvPr>
            <p:ph type="title"/>
          </p:nvPr>
        </p:nvSpPr>
        <p:spPr>
          <a:xfrm>
            <a:off x="2595825" y="590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 Validation Plan</a:t>
            </a:r>
            <a:endParaRPr sz="2980"/>
          </a:p>
        </p:txBody>
      </p:sp>
      <p:pic>
        <p:nvPicPr>
          <p:cNvPr id="258" name="Google Shape;258;g3bbfdbd9de5_2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37" y="1031412"/>
            <a:ext cx="8930126" cy="37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bfdbd9de5_2_140"/>
          <p:cNvSpPr txBox="1"/>
          <p:nvPr>
            <p:ph type="title"/>
          </p:nvPr>
        </p:nvSpPr>
        <p:spPr>
          <a:xfrm>
            <a:off x="2595825" y="590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 Gantt Chart</a:t>
            </a:r>
            <a:endParaRPr sz="2980"/>
          </a:p>
        </p:txBody>
      </p:sp>
      <p:pic>
        <p:nvPicPr>
          <p:cNvPr id="264" name="Google Shape;264;g3bbfdbd9de5_2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25" y="1676775"/>
            <a:ext cx="8372550" cy="25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bfdbd9de5_2_140"/>
          <p:cNvSpPr txBox="1"/>
          <p:nvPr>
            <p:ph type="title"/>
          </p:nvPr>
        </p:nvSpPr>
        <p:spPr>
          <a:xfrm>
            <a:off x="457200" y="9392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RADIAN’s Two Week Plan</a:t>
            </a:r>
            <a:endParaRPr sz="298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 txBox="1"/>
          <p:nvPr>
            <p:ph idx="4294967295" type="title"/>
          </p:nvPr>
        </p:nvSpPr>
        <p:spPr>
          <a:xfrm>
            <a:off x="457200" y="1740799"/>
            <a:ext cx="82296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Thanks and Gig ‘Em</a:t>
            </a:r>
            <a:endParaRPr b="1" sz="3200"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Any Questions?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9</vt:lpwstr>
  </property>
</Properties>
</file>