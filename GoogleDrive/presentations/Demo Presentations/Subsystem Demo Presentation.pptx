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aCkby0l/Fd7iPRKxRSlFQVtKb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ce43e7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" name="Google Shape;59;g3aace43e740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ace43e74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" name="Google Shape;69;g3aace43e740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ce43e7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" name="Google Shape;77;g3aace43e740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ace43e740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ace43e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ce43e740_0_1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ce43e74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ce43e740_0_1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ce43e74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ce43e740_0_1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ace43e74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ce43e740_0_1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ce43e74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c621e4ea7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c621e4e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c621e4ea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c621e4ea7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621e4ea7_0_1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c621e4ea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c621e4ea7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c621e4ea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c621e4ea7_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c621e4ea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c621e4ea7_0_1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c621e4ea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c7dacd2aa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c7dacd2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c7dacd2aa_1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c7dacd2a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c7dacd2aa_1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c7dacd2a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c89704b40_1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c89704b4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c89704b40_1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c89704b4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c89704b40_1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c89704b4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c89704b40_1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c89704b4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9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9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jpg"/><Relationship Id="rId5" Type="http://schemas.openxmlformats.org/officeDocument/2006/relationships/image" Target="../media/image20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fZshUlxUhxQXr-DSKG9DP1FkdelMONeb/view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://drive.google.com/file/d/15Rg6ehQ6dJB-g3UUv_Q8d6lu7MNt3dDi/view" TargetMode="External"/><Relationship Id="rId6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619250" y="3183731"/>
            <a:ext cx="73026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RADIAN Subsystem Demo</a:t>
            </a:r>
            <a:br>
              <a:rPr lang="en-US"/>
            </a:br>
            <a:r>
              <a:rPr lang="en-US"/>
              <a:t>Team 60 - Group 3</a:t>
            </a:r>
            <a:br>
              <a:rPr lang="en-US"/>
            </a:br>
            <a:r>
              <a:rPr lang="en-US"/>
              <a:t>Matthew Blackwell, Mitch Hoffman, Wyatt Johnson</a:t>
            </a:r>
            <a:br>
              <a:rPr lang="en-US"/>
            </a:br>
            <a:r>
              <a:rPr lang="en-US"/>
              <a:t>Sponsor: Dr. Arya Menon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3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aace43e740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625" y="3730450"/>
            <a:ext cx="1214510" cy="1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aace43e740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5412" y="3730450"/>
            <a:ext cx="1433195" cy="14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aace43e740_0_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64" name="Google Shape;64;g3aace43e740_0_5"/>
          <p:cNvSpPr txBox="1"/>
          <p:nvPr>
            <p:ph idx="1" type="body"/>
          </p:nvPr>
        </p:nvSpPr>
        <p:spPr>
          <a:xfrm>
            <a:off x="297000" y="1424225"/>
            <a:ext cx="855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Falls are the leading cause of injury in elderly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100"/>
              <a:t>F</a:t>
            </a:r>
            <a:r>
              <a:rPr lang="en-US" sz="2200"/>
              <a:t>ast </a:t>
            </a:r>
            <a:r>
              <a:rPr lang="en-US" sz="2100"/>
              <a:t>d</a:t>
            </a:r>
            <a:r>
              <a:rPr lang="en-US" sz="2200"/>
              <a:t>etection saves lives through quick response</a:t>
            </a:r>
            <a:endParaRPr sz="2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Current Solutions - Limitations:</a:t>
            </a:r>
            <a:endParaRPr b="1"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Wearables → must be worn and charged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Push-buttons → user must be conscious/able to press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Camera → effective but invade privacy</a:t>
            </a:r>
            <a:endParaRPr sz="220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g3aace43e740_0_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g3aace43e740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3851" y="3550826"/>
            <a:ext cx="1592674" cy="159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aace43e740_0_59" title="Concept Image.png"/>
          <p:cNvPicPr preferRelativeResize="0"/>
          <p:nvPr/>
        </p:nvPicPr>
        <p:blipFill rotWithShape="1">
          <a:blip r:embed="rId3">
            <a:alphaModFix/>
          </a:blip>
          <a:srcRect b="20159" l="0" r="0" t="0"/>
          <a:stretch/>
        </p:blipFill>
        <p:spPr>
          <a:xfrm>
            <a:off x="-86800" y="1531185"/>
            <a:ext cx="5146800" cy="3081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aace43e740_0_59"/>
          <p:cNvSpPr txBox="1"/>
          <p:nvPr>
            <p:ph type="title"/>
          </p:nvPr>
        </p:nvSpPr>
        <p:spPr>
          <a:xfrm>
            <a:off x="3347775" y="229075"/>
            <a:ext cx="6381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RADIAN System Summary</a:t>
            </a:r>
            <a:endParaRPr/>
          </a:p>
        </p:txBody>
      </p:sp>
      <p:sp>
        <p:nvSpPr>
          <p:cNvPr id="73" name="Google Shape;73;g3aace43e740_0_59"/>
          <p:cNvSpPr txBox="1"/>
          <p:nvPr>
            <p:ph idx="1" type="body"/>
          </p:nvPr>
        </p:nvSpPr>
        <p:spPr>
          <a:xfrm>
            <a:off x="4993014" y="1012425"/>
            <a:ext cx="38274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 u="sng"/>
              <a:t>Proposed Solution:</a:t>
            </a:r>
            <a:endParaRPr b="1" sz="2100" u="sng"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100" u="sng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Automatic Fall Detection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Works in real time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user action needed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Privacy-Preserving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No camera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Protects independence</a:t>
            </a:r>
            <a:endParaRPr sz="2100"/>
          </a:p>
          <a:p>
            <a:pPr indent="0" lvl="0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Reliable Response</a:t>
            </a:r>
            <a:endParaRPr sz="2100"/>
          </a:p>
          <a:p>
            <a:pPr indent="-36195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–"/>
            </a:pPr>
            <a:r>
              <a:rPr lang="en-US" sz="2100"/>
              <a:t>Immediate accurate alerts to caregivers</a:t>
            </a:r>
            <a:endParaRPr sz="2100"/>
          </a:p>
          <a:p>
            <a:pPr indent="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g3aace43e740_0_5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ce43e740_0_111"/>
          <p:cNvSpPr txBox="1"/>
          <p:nvPr>
            <p:ph type="title"/>
          </p:nvPr>
        </p:nvSpPr>
        <p:spPr>
          <a:xfrm>
            <a:off x="457200" y="617277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80" name="Google Shape;80;g3aace43e740_0_1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g3aace43e740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775" y="971425"/>
            <a:ext cx="6702450" cy="40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ce43e740_0_0"/>
          <p:cNvSpPr txBox="1"/>
          <p:nvPr>
            <p:ph type="title"/>
          </p:nvPr>
        </p:nvSpPr>
        <p:spPr>
          <a:xfrm>
            <a:off x="2650175" y="8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Technical Merit</a:t>
            </a:r>
            <a:endParaRPr/>
          </a:p>
        </p:txBody>
      </p:sp>
      <p:sp>
        <p:nvSpPr>
          <p:cNvPr id="87" name="Google Shape;87;g3aace43e740_0_0"/>
          <p:cNvSpPr txBox="1"/>
          <p:nvPr>
            <p:ph idx="1" type="body"/>
          </p:nvPr>
        </p:nvSpPr>
        <p:spPr>
          <a:xfrm>
            <a:off x="417325" y="839174"/>
            <a:ext cx="8229600" cy="41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Overview: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Create a ML model to detect falls for </a:t>
            </a:r>
            <a:r>
              <a:rPr lang="en-US" sz="2000"/>
              <a:t>elderly</a:t>
            </a:r>
            <a:r>
              <a:rPr lang="en-US" sz="2000"/>
              <a:t> and high-risk </a:t>
            </a:r>
            <a:r>
              <a:rPr lang="en-US" sz="2000"/>
              <a:t>individuals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403 Assumptions: 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 elderly move at an average rate of 0.45 m/s, only one individual in the scanned room, an average range of z (height) of 1.2m - 1.7m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RADIAN Pipeline: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2000"/>
              <a:t>Edgecase Generator → Classifier → Fall Detection Logic → Output</a:t>
            </a:r>
            <a:endParaRPr i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ce43e740_0_162"/>
          <p:cNvSpPr txBox="1"/>
          <p:nvPr>
            <p:ph type="title"/>
          </p:nvPr>
        </p:nvSpPr>
        <p:spPr>
          <a:xfrm>
            <a:off x="2616925" y="8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Validation</a:t>
            </a:r>
            <a:endParaRPr/>
          </a:p>
        </p:txBody>
      </p:sp>
      <p:sp>
        <p:nvSpPr>
          <p:cNvPr id="93" name="Google Shape;93;g3aace43e740_0_162"/>
          <p:cNvSpPr txBox="1"/>
          <p:nvPr>
            <p:ph idx="1" type="body"/>
          </p:nvPr>
        </p:nvSpPr>
        <p:spPr>
          <a:xfrm>
            <a:off x="457200" y="770849"/>
            <a:ext cx="8229600" cy="382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Edgecase Generator: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Built an 8 case edgecase generator for common potential “false </a:t>
            </a:r>
            <a:r>
              <a:rPr lang="en-US" sz="2000"/>
              <a:t>positives” including sitting down, bending over, kneeling, laying down, crawling, a pet walking through the frame, an object dropping, and a true hard fall.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These 8 cases are used to prove that the system works as intended, simulating both positive and negative falls to ensure that the ML model predicts correctly. 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ce43e740_0_167"/>
          <p:cNvSpPr txBox="1"/>
          <p:nvPr>
            <p:ph type="title"/>
          </p:nvPr>
        </p:nvSpPr>
        <p:spPr>
          <a:xfrm>
            <a:off x="2510600" y="8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</a:t>
            </a:r>
            <a:r>
              <a:rPr lang="en-US"/>
              <a:t>Classifier</a:t>
            </a:r>
            <a:r>
              <a:rPr lang="en-US"/>
              <a:t> and Logic</a:t>
            </a:r>
            <a:endParaRPr/>
          </a:p>
        </p:txBody>
      </p:sp>
      <p:sp>
        <p:nvSpPr>
          <p:cNvPr id="99" name="Google Shape;99;g3aace43e740_0_167"/>
          <p:cNvSpPr txBox="1"/>
          <p:nvPr>
            <p:ph idx="1" type="body"/>
          </p:nvPr>
        </p:nvSpPr>
        <p:spPr>
          <a:xfrm>
            <a:off x="457200" y="804074"/>
            <a:ext cx="8229600" cy="379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Classifier: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Adds AWGN, jitter, mixed movement speeds, and other common factors to the synthesized data to mimic actual radar data from the AWR6843. 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Classifies based on a </a:t>
            </a:r>
            <a:r>
              <a:rPr i="1" lang="en-US" sz="2000"/>
              <a:t>movement score</a:t>
            </a:r>
            <a:r>
              <a:rPr lang="en-US" sz="2000"/>
              <a:t> calculated on indicators such as a high velocity, sudden z-axis movement changes, and random “false positive” noise. This allows for the model to not only train on |v| &gt; 0.4 as movement, but also confirms with x,y, and z movement shifts.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ce43e740_0_177"/>
          <p:cNvSpPr txBox="1"/>
          <p:nvPr>
            <p:ph type="title"/>
          </p:nvPr>
        </p:nvSpPr>
        <p:spPr>
          <a:xfrm>
            <a:off x="2510600" y="8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Classifier and Logic</a:t>
            </a:r>
            <a:endParaRPr/>
          </a:p>
        </p:txBody>
      </p:sp>
      <p:sp>
        <p:nvSpPr>
          <p:cNvPr id="105" name="Google Shape;105;g3aace43e740_0_177"/>
          <p:cNvSpPr txBox="1"/>
          <p:nvPr>
            <p:ph idx="1" type="body"/>
          </p:nvPr>
        </p:nvSpPr>
        <p:spPr>
          <a:xfrm>
            <a:off x="457200" y="804074"/>
            <a:ext cx="8229600" cy="379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 u="sng"/>
              <a:t>Logic:</a:t>
            </a:r>
            <a:endParaRPr b="1" sz="2000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A fall is detected when both of these conditions are true:</a:t>
            </a:r>
            <a:br>
              <a:rPr lang="en-US" sz="2000"/>
            </a:br>
            <a:endParaRPr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z_drop (average) &gt; 0.3 meters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static_ratio &gt; 0.5 </a:t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/>
              <a:t>The average z value is taken over the previous 5 frames, where the fall is thought to have been detected, and if at least 50% of the points become static after the individual hits the ground. 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ce43e740_0_182"/>
          <p:cNvSpPr txBox="1"/>
          <p:nvPr>
            <p:ph type="title"/>
          </p:nvPr>
        </p:nvSpPr>
        <p:spPr>
          <a:xfrm>
            <a:off x="2563750" y="8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Code Snippets</a:t>
            </a:r>
            <a:endParaRPr/>
          </a:p>
        </p:txBody>
      </p:sp>
      <p:pic>
        <p:nvPicPr>
          <p:cNvPr id="111" name="Google Shape;111;g3aace43e740_0_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5100"/>
            <a:ext cx="3264900" cy="20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aace43e740_0_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625" y="755100"/>
            <a:ext cx="3443226" cy="318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aace43e740_0_182"/>
          <p:cNvSpPr txBox="1"/>
          <p:nvPr/>
        </p:nvSpPr>
        <p:spPr>
          <a:xfrm>
            <a:off x="0" y="2784400"/>
            <a:ext cx="326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</a:rPr>
              <a:t>Image 1: Example of edgecase generating function, </a:t>
            </a:r>
            <a:r>
              <a:rPr i="1" lang="en-US" sz="800">
                <a:solidFill>
                  <a:schemeClr val="dk1"/>
                </a:solidFill>
              </a:rPr>
              <a:t>specifically</a:t>
            </a:r>
            <a:r>
              <a:rPr i="1" lang="en-US" sz="800">
                <a:solidFill>
                  <a:schemeClr val="dk1"/>
                </a:solidFill>
              </a:rPr>
              <a:t> for simulating “bending over”</a:t>
            </a:r>
            <a:endParaRPr i="1" sz="800">
              <a:solidFill>
                <a:schemeClr val="dk1"/>
              </a:solidFill>
            </a:endParaRPr>
          </a:p>
        </p:txBody>
      </p:sp>
      <p:sp>
        <p:nvSpPr>
          <p:cNvPr id="114" name="Google Shape;114;g3aace43e740_0_182"/>
          <p:cNvSpPr txBox="1"/>
          <p:nvPr/>
        </p:nvSpPr>
        <p:spPr>
          <a:xfrm>
            <a:off x="5309625" y="3944325"/>
            <a:ext cx="3443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</a:rPr>
              <a:t>Image 2: Code block for training the random forest model</a:t>
            </a:r>
            <a:endParaRPr i="1" sz="800">
              <a:solidFill>
                <a:schemeClr val="dk1"/>
              </a:solidFill>
            </a:endParaRPr>
          </a:p>
        </p:txBody>
      </p:sp>
      <p:pic>
        <p:nvPicPr>
          <p:cNvPr id="115" name="Google Shape;115;g3aace43e740_0_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51" y="3147837"/>
            <a:ext cx="2993676" cy="1878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aace43e740_0_182"/>
          <p:cNvSpPr txBox="1"/>
          <p:nvPr/>
        </p:nvSpPr>
        <p:spPr>
          <a:xfrm>
            <a:off x="4422425" y="4694300"/>
            <a:ext cx="3264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</a:rPr>
              <a:t>Image 3: The logic for the fall check</a:t>
            </a:r>
            <a:endParaRPr i="1"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c621e4ea7_0_28"/>
          <p:cNvSpPr txBox="1"/>
          <p:nvPr>
            <p:ph type="title"/>
          </p:nvPr>
        </p:nvSpPr>
        <p:spPr>
          <a:xfrm>
            <a:off x="3152400" y="156206"/>
            <a:ext cx="66063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Physical – Wyatt Johnson</a:t>
            </a:r>
            <a:endParaRPr/>
          </a:p>
        </p:txBody>
      </p:sp>
      <p:sp>
        <p:nvSpPr>
          <p:cNvPr id="122" name="Google Shape;122;g3ac621e4ea7_0_28"/>
          <p:cNvSpPr txBox="1"/>
          <p:nvPr>
            <p:ph idx="12" type="sldNum"/>
          </p:nvPr>
        </p:nvSpPr>
        <p:spPr>
          <a:xfrm>
            <a:off x="6591600" y="47864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g3ac621e4ea7_0_28"/>
          <p:cNvSpPr txBox="1"/>
          <p:nvPr>
            <p:ph idx="1" type="body"/>
          </p:nvPr>
        </p:nvSpPr>
        <p:spPr>
          <a:xfrm>
            <a:off x="230550" y="689550"/>
            <a:ext cx="7029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/>
              <a:t>Power &amp; Battery Subsystem: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Subsystem function: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Provide power, battery protection, and charging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Design Overview: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Batteries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Power conversion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Cadence</a:t>
            </a:r>
            <a:endParaRPr sz="1800"/>
          </a:p>
        </p:txBody>
      </p:sp>
      <p:pic>
        <p:nvPicPr>
          <p:cNvPr id="124" name="Google Shape;124;g3ac621e4ea7_0_28"/>
          <p:cNvPicPr preferRelativeResize="0"/>
          <p:nvPr/>
        </p:nvPicPr>
        <p:blipFill rotWithShape="1">
          <a:blip r:embed="rId3">
            <a:alphaModFix/>
          </a:blip>
          <a:srcRect b="0" l="0" r="0" t="14096"/>
          <a:stretch/>
        </p:blipFill>
        <p:spPr>
          <a:xfrm>
            <a:off x="3152400" y="2860800"/>
            <a:ext cx="5910501" cy="2332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ac621e4ea7_0_28"/>
          <p:cNvSpPr txBox="1"/>
          <p:nvPr/>
        </p:nvSpPr>
        <p:spPr>
          <a:xfrm>
            <a:off x="2584089" y="1732704"/>
            <a:ext cx="32886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Power Budget</a:t>
            </a:r>
            <a:r>
              <a:rPr lang="en-US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5V/1A — Radar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5V/1A — Raspberry PI</a:t>
            </a:r>
            <a:endParaRPr sz="3200">
              <a:solidFill>
                <a:schemeClr val="dk1"/>
              </a:solidFill>
            </a:endParaRPr>
          </a:p>
        </p:txBody>
      </p:sp>
      <p:cxnSp>
        <p:nvCxnSpPr>
          <p:cNvPr id="126" name="Google Shape;126;g3ac621e4ea7_0_28"/>
          <p:cNvCxnSpPr>
            <a:stCxn id="127" idx="1"/>
          </p:cNvCxnSpPr>
          <p:nvPr/>
        </p:nvCxnSpPr>
        <p:spPr>
          <a:xfrm flipH="1">
            <a:off x="7561013" y="2472388"/>
            <a:ext cx="447300" cy="167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ac621e4ea7_0_28"/>
          <p:cNvCxnSpPr>
            <a:endCxn id="129" idx="3"/>
          </p:cNvCxnSpPr>
          <p:nvPr/>
        </p:nvCxnSpPr>
        <p:spPr>
          <a:xfrm rot="10800000">
            <a:off x="2127650" y="3676200"/>
            <a:ext cx="1285800" cy="66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g3ac621e4ea7_0_28"/>
          <p:cNvCxnSpPr>
            <a:endCxn id="131" idx="3"/>
          </p:cNvCxnSpPr>
          <p:nvPr/>
        </p:nvCxnSpPr>
        <p:spPr>
          <a:xfrm flipH="1">
            <a:off x="2793356" y="4410812"/>
            <a:ext cx="628800" cy="17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1" name="Google Shape;131;g3ac621e4ea7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796" y="4056999"/>
            <a:ext cx="1566560" cy="10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ac621e4ea7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4200" y="3059750"/>
            <a:ext cx="2191850" cy="123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g3ac621e4ea7_0_28"/>
          <p:cNvGrpSpPr/>
          <p:nvPr/>
        </p:nvGrpSpPr>
        <p:grpSpPr>
          <a:xfrm rot="-5400000">
            <a:off x="7649580" y="1396766"/>
            <a:ext cx="717466" cy="1433779"/>
            <a:chOff x="4330900" y="1638300"/>
            <a:chExt cx="934200" cy="1866900"/>
          </a:xfrm>
        </p:grpSpPr>
        <p:pic>
          <p:nvPicPr>
            <p:cNvPr id="127" name="Google Shape;127;g3ac621e4ea7_0_28"/>
            <p:cNvPicPr preferRelativeResize="0"/>
            <p:nvPr/>
          </p:nvPicPr>
          <p:blipFill rotWithShape="1">
            <a:blip r:embed="rId6">
              <a:alphaModFix/>
            </a:blip>
            <a:srcRect b="0" l="35936" r="36819" t="0"/>
            <a:stretch/>
          </p:blipFill>
          <p:spPr>
            <a:xfrm>
              <a:off x="4330900" y="1638300"/>
              <a:ext cx="467100" cy="186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g3ac621e4ea7_0_28"/>
            <p:cNvPicPr preferRelativeResize="0"/>
            <p:nvPr/>
          </p:nvPicPr>
          <p:blipFill rotWithShape="1">
            <a:blip r:embed="rId6">
              <a:alphaModFix/>
            </a:blip>
            <a:srcRect b="0" l="35936" r="36819" t="0"/>
            <a:stretch/>
          </p:blipFill>
          <p:spPr>
            <a:xfrm>
              <a:off x="4798000" y="1638300"/>
              <a:ext cx="467100" cy="1866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g3ac621e4ea7_0_28"/>
          <p:cNvSpPr txBox="1"/>
          <p:nvPr/>
        </p:nvSpPr>
        <p:spPr>
          <a:xfrm>
            <a:off x="6773480" y="4502109"/>
            <a:ext cx="1007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3.7v 3500mAh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c621e4ea7_0_90"/>
          <p:cNvSpPr txBox="1"/>
          <p:nvPr/>
        </p:nvSpPr>
        <p:spPr>
          <a:xfrm>
            <a:off x="-711300" y="0"/>
            <a:ext cx="9855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Schematic and layout </a:t>
            </a:r>
            <a:r>
              <a:rPr b="1" lang="en-US" sz="2600">
                <a:solidFill>
                  <a:schemeClr val="dk1"/>
                </a:solidFill>
              </a:rPr>
              <a:t>design</a:t>
            </a:r>
            <a:endParaRPr b="1" sz="18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40" name="Google Shape;140;g3ac621e4ea7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8275"/>
            <a:ext cx="5474901" cy="22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ac621e4ea7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5" y="3306350"/>
            <a:ext cx="4199676" cy="17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ac621e4ea7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0706" y="648275"/>
            <a:ext cx="3576699" cy="2386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c621e4ea7_0_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7685" y="2997050"/>
            <a:ext cx="4274808" cy="214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621e4ea7_0_162"/>
          <p:cNvSpPr txBox="1"/>
          <p:nvPr>
            <p:ph type="title"/>
          </p:nvPr>
        </p:nvSpPr>
        <p:spPr>
          <a:xfrm>
            <a:off x="-2391750" y="8640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Demos</a:t>
            </a:r>
            <a:endParaRPr/>
          </a:p>
        </p:txBody>
      </p:sp>
      <p:sp>
        <p:nvSpPr>
          <p:cNvPr id="149" name="Google Shape;149;g3ac621e4ea7_0_162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g3ac621e4ea7_0_162" title="IMG_0814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816" y="0"/>
            <a:ext cx="2893220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ac621e4ea7_0_162" title="IMG_0815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07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c621e4ea7_0_14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5V Output Voltage vs Load</a:t>
            </a:r>
            <a:endParaRPr/>
          </a:p>
        </p:txBody>
      </p:sp>
      <p:sp>
        <p:nvSpPr>
          <p:cNvPr id="157" name="Google Shape;157;g3ac621e4ea7_0_143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00037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Load Testing &amp; System Validation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Used a Raspberry Pi as a real system load to validate the power board under practical conditions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No-load output measured at 5.07 V to verify proper regulation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With Raspberry Pi connected, output measured at ~4.92 V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Voltage remained within the acceptable 5 V tolerance range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Demonstrates the board can power real hardware, not just ideal loads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Confirms stable operation under a dynamic and “real-world” load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Validates that the power PCB is functional for system-level use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c621e4ea7_0_148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Battery Voltage vs Time for Charging</a:t>
            </a:r>
            <a:endParaRPr/>
          </a:p>
        </p:txBody>
      </p:sp>
      <p:sp>
        <p:nvSpPr>
          <p:cNvPr id="163" name="Google Shape;163;g3ac621e4ea7_0_148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3ac621e4ea7_0_14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000" y="1389575"/>
            <a:ext cx="6075000" cy="375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ac621e4ea7_0_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300" y="1389575"/>
            <a:ext cx="21717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c621e4ea7_0_169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Physical </a:t>
            </a:r>
            <a:r>
              <a:rPr lang="en-US"/>
              <a:t>Technical</a:t>
            </a:r>
            <a:r>
              <a:rPr lang="en-US"/>
              <a:t> Merit</a:t>
            </a:r>
            <a:endParaRPr/>
          </a:p>
        </p:txBody>
      </p:sp>
      <p:sp>
        <p:nvSpPr>
          <p:cNvPr id="171" name="Google Shape;171;g3ac621e4ea7_0_169"/>
          <p:cNvSpPr txBox="1"/>
          <p:nvPr>
            <p:ph idx="1" type="body"/>
          </p:nvPr>
        </p:nvSpPr>
        <p:spPr>
          <a:xfrm>
            <a:off x="457200" y="1536950"/>
            <a:ext cx="411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Built-in Li-ion battery charging circuit for safe, on-board charging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Boost converter generates regulated 5 V output from the battery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Successfully powers a Raspberry Pi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Tested the output with resistor loads</a:t>
            </a:r>
            <a:endParaRPr/>
          </a:p>
        </p:txBody>
      </p:sp>
      <p:sp>
        <p:nvSpPr>
          <p:cNvPr id="172" name="Google Shape;172;g3ac621e4ea7_0_169"/>
          <p:cNvSpPr txBox="1"/>
          <p:nvPr>
            <p:ph idx="1" type="body"/>
          </p:nvPr>
        </p:nvSpPr>
        <p:spPr>
          <a:xfrm>
            <a:off x="4600150" y="1589725"/>
            <a:ext cx="411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Board supports charging and powering the system at the same time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Stable operation with no shutdown or instability during testing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➔"/>
            </a:pPr>
            <a:r>
              <a:rPr lang="en-US"/>
              <a:t>Design provides a solid baseline for higher-current future revisions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c7dacd2aa_1_0"/>
          <p:cNvSpPr/>
          <p:nvPr/>
        </p:nvSpPr>
        <p:spPr>
          <a:xfrm>
            <a:off x="983475" y="3789550"/>
            <a:ext cx="2175300" cy="106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c7dacd2aa_1_0"/>
          <p:cNvSpPr txBox="1"/>
          <p:nvPr>
            <p:ph type="title"/>
          </p:nvPr>
        </p:nvSpPr>
        <p:spPr>
          <a:xfrm>
            <a:off x="4504800" y="139750"/>
            <a:ext cx="41820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Subsystem Overview</a:t>
            </a:r>
            <a:endParaRPr/>
          </a:p>
        </p:txBody>
      </p:sp>
      <p:sp>
        <p:nvSpPr>
          <p:cNvPr id="179" name="Google Shape;179;g3ac7dacd2aa_1_0"/>
          <p:cNvSpPr txBox="1"/>
          <p:nvPr/>
        </p:nvSpPr>
        <p:spPr>
          <a:xfrm>
            <a:off x="3588675" y="1227000"/>
            <a:ext cx="48999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dk1"/>
                </a:solidFill>
              </a:rPr>
              <a:t>Radar + Mobile App:</a:t>
            </a:r>
            <a:endParaRPr b="1" sz="1600" u="sng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Provides non-contact fall detection using mmWave radar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Converts radar point cloud data into usable features for Data subsystem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Delivers real time alerts and fall logs to caregivers through mobile app (simulated alerts)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g3ac7dacd2aa_1_0"/>
          <p:cNvSpPr/>
          <p:nvPr/>
        </p:nvSpPr>
        <p:spPr>
          <a:xfrm>
            <a:off x="981525" y="1369950"/>
            <a:ext cx="2175300" cy="106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c7dacd2aa_1_0"/>
          <p:cNvSpPr/>
          <p:nvPr/>
        </p:nvSpPr>
        <p:spPr>
          <a:xfrm>
            <a:off x="1130775" y="1460250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Radar (AWR6843ISK)</a:t>
            </a:r>
            <a:endParaRPr sz="1200"/>
          </a:p>
        </p:txBody>
      </p:sp>
      <p:sp>
        <p:nvSpPr>
          <p:cNvPr id="182" name="Google Shape;182;g3ac7dacd2aa_1_0"/>
          <p:cNvSpPr/>
          <p:nvPr/>
        </p:nvSpPr>
        <p:spPr>
          <a:xfrm>
            <a:off x="1321125" y="2779250"/>
            <a:ext cx="1500000" cy="66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Raspberry Pi 3</a:t>
            </a:r>
            <a:endParaRPr sz="1200"/>
          </a:p>
        </p:txBody>
      </p:sp>
      <p:sp>
        <p:nvSpPr>
          <p:cNvPr id="183" name="Google Shape;183;g3ac7dacd2aa_1_0"/>
          <p:cNvSpPr/>
          <p:nvPr/>
        </p:nvSpPr>
        <p:spPr>
          <a:xfrm>
            <a:off x="1130775" y="3879875"/>
            <a:ext cx="1876800" cy="887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</a:t>
            </a:r>
            <a:endParaRPr/>
          </a:p>
        </p:txBody>
      </p:sp>
      <p:cxnSp>
        <p:nvCxnSpPr>
          <p:cNvPr id="184" name="Google Shape;184;g3ac7dacd2aa_1_0"/>
          <p:cNvCxnSpPr>
            <a:stCxn id="181" idx="2"/>
            <a:endCxn id="182" idx="0"/>
          </p:cNvCxnSpPr>
          <p:nvPr/>
        </p:nvCxnSpPr>
        <p:spPr>
          <a:xfrm>
            <a:off x="2069175" y="2347650"/>
            <a:ext cx="2100" cy="431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g3ac7dacd2aa_1_0"/>
          <p:cNvCxnSpPr>
            <a:stCxn id="182" idx="2"/>
            <a:endCxn id="183" idx="0"/>
          </p:cNvCxnSpPr>
          <p:nvPr/>
        </p:nvCxnSpPr>
        <p:spPr>
          <a:xfrm flipH="1">
            <a:off x="2069025" y="3448250"/>
            <a:ext cx="2100" cy="431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c7dacd2aa_1_14"/>
          <p:cNvSpPr txBox="1"/>
          <p:nvPr>
            <p:ph type="title"/>
          </p:nvPr>
        </p:nvSpPr>
        <p:spPr>
          <a:xfrm>
            <a:off x="4390450" y="80900"/>
            <a:ext cx="44931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Technical Merit</a:t>
            </a:r>
            <a:endParaRPr/>
          </a:p>
        </p:txBody>
      </p:sp>
      <p:sp>
        <p:nvSpPr>
          <p:cNvPr id="191" name="Google Shape;191;g3ac7dacd2aa_1_14"/>
          <p:cNvSpPr txBox="1"/>
          <p:nvPr>
            <p:ph idx="1" type="body"/>
          </p:nvPr>
        </p:nvSpPr>
        <p:spPr>
          <a:xfrm>
            <a:off x="50425" y="1148750"/>
            <a:ext cx="4958700" cy="374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00" u="sng"/>
              <a:t>Radar data </a:t>
            </a:r>
            <a:r>
              <a:rPr b="1" lang="en-US" sz="1600" u="sng"/>
              <a:t>acquisition</a:t>
            </a:r>
            <a:r>
              <a:rPr b="1" lang="en-US" sz="1600" u="sng"/>
              <a:t> + </a:t>
            </a:r>
            <a:r>
              <a:rPr b="1" lang="en-US" sz="1600" u="sng"/>
              <a:t>preprocessing</a:t>
            </a:r>
            <a:r>
              <a:rPr b="1" lang="en-US" sz="1600" u="sng"/>
              <a:t> </a:t>
            </a:r>
            <a:r>
              <a:rPr b="1" lang="en-US" sz="1600" u="sng"/>
              <a:t>pipeline</a:t>
            </a:r>
            <a:r>
              <a:rPr b="1" lang="en-US" sz="1600" u="sng"/>
              <a:t>:</a:t>
            </a:r>
            <a:endParaRPr b="1" sz="1600" u="sng"/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Python pipeline configures TI AWR6843ISK using custom .cfg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Uses dual UART: CLI (115200 bps) + Data (921600 bps)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Parses Type-Length-Value (TLV) frames into x, y, z, and velocity point cloud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Supports real time human tracking by extracting position and velocity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Outputs clean NDJSON to Data subsystem for classification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Built in handling for frame boundaries, device echo, and binary parsing</a:t>
            </a:r>
            <a:endParaRPr sz="1600"/>
          </a:p>
        </p:txBody>
      </p:sp>
      <p:pic>
        <p:nvPicPr>
          <p:cNvPr id="192" name="Google Shape;192;g3ac7dacd2aa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100" y="1042150"/>
            <a:ext cx="3845425" cy="37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c7dacd2aa_1_19"/>
          <p:cNvSpPr txBox="1"/>
          <p:nvPr>
            <p:ph type="title"/>
          </p:nvPr>
        </p:nvSpPr>
        <p:spPr>
          <a:xfrm>
            <a:off x="4936750" y="114525"/>
            <a:ext cx="28878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Demo </a:t>
            </a:r>
            <a:endParaRPr/>
          </a:p>
        </p:txBody>
      </p:sp>
      <p:pic>
        <p:nvPicPr>
          <p:cNvPr id="198" name="Google Shape;198;g3ac7dacd2aa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75" y="1127300"/>
            <a:ext cx="3184151" cy="345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ac7dacd2aa_1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925" y="1623150"/>
            <a:ext cx="5883076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ac7dacd2aa_1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0925" y="3174875"/>
            <a:ext cx="5883075" cy="8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ac7dacd2aa_1_19"/>
          <p:cNvSpPr txBox="1"/>
          <p:nvPr/>
        </p:nvSpPr>
        <p:spPr>
          <a:xfrm>
            <a:off x="3811463" y="2779775"/>
            <a:ext cx="47820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Human Tracking: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2" name="Google Shape;202;g3ac7dacd2aa_1_19"/>
          <p:cNvSpPr txBox="1"/>
          <p:nvPr/>
        </p:nvSpPr>
        <p:spPr>
          <a:xfrm>
            <a:off x="3811463" y="1228050"/>
            <a:ext cx="47820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NDJSON output: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c89704b40_1_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Validation &amp; Test Cases</a:t>
            </a:r>
            <a:endParaRPr/>
          </a:p>
        </p:txBody>
      </p:sp>
      <p:sp>
        <p:nvSpPr>
          <p:cNvPr id="208" name="Google Shape;208;g3ac89704b40_1_2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Functional Testing:</a:t>
            </a:r>
            <a:r>
              <a:rPr lang="en-US" sz="1600"/>
              <a:t> Frame </a:t>
            </a:r>
            <a:r>
              <a:rPr lang="en-US" sz="1600"/>
              <a:t>integrity</a:t>
            </a:r>
            <a:r>
              <a:rPr lang="en-US" sz="1600"/>
              <a:t>, TLV decoding, UART throughput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Scenario Testing:</a:t>
            </a:r>
            <a:r>
              <a:rPr lang="en-US" sz="1600"/>
              <a:t> Walking, standing, falling motions, no-motion cases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V</a:t>
            </a:r>
            <a:r>
              <a:rPr b="1" lang="en-US" sz="1600"/>
              <a:t>elocity Testing:</a:t>
            </a:r>
            <a:r>
              <a:rPr lang="en-US" sz="1600"/>
              <a:t> Toward/away motion to verify Doppler sign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Range Testing:</a:t>
            </a:r>
            <a:r>
              <a:rPr lang="en-US" sz="1600"/>
              <a:t> Close range vs. max range behavior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/>
              <a:t>Noise &amp; Clutter:</a:t>
            </a:r>
            <a:r>
              <a:rPr lang="en-US" sz="1600"/>
              <a:t> Verified point counts and spatial consistency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89704b40_1_7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 Technical Merit</a:t>
            </a:r>
            <a:endParaRPr/>
          </a:p>
        </p:txBody>
      </p:sp>
      <p:sp>
        <p:nvSpPr>
          <p:cNvPr id="214" name="Google Shape;214;g3ac89704b40_1_7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Flutter based Android app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Tabs: Home, Alerts, Fall Log, Settings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Implements periodic reminders and simulated fall events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Implements Gotify connection UI and backend logic (integration for 404)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Stores weekly fall events in local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User selectable Light/Dark Theme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Settings tab configures Gotify connection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c89704b40_1_12"/>
          <p:cNvSpPr txBox="1"/>
          <p:nvPr>
            <p:ph type="title"/>
          </p:nvPr>
        </p:nvSpPr>
        <p:spPr>
          <a:xfrm>
            <a:off x="4491325" y="89325"/>
            <a:ext cx="42660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 Demo</a:t>
            </a:r>
            <a:endParaRPr/>
          </a:p>
        </p:txBody>
      </p:sp>
      <p:pic>
        <p:nvPicPr>
          <p:cNvPr id="220" name="Google Shape;220;g3ac89704b40_1_12" title="Screenshot 2025-11-18 2220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301" y="861603"/>
            <a:ext cx="1791350" cy="3999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ac89704b40_1_12" title="Screenshot 2025-11-18 2220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0650" y="842600"/>
            <a:ext cx="1791350" cy="4017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ac89704b40_1_12" title="Screenshot 2025-11-18 2219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842600"/>
            <a:ext cx="1791350" cy="398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ac89704b40_1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3350" y="842600"/>
            <a:ext cx="1791350" cy="4016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c89704b40_1_26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 App Validation &amp; Test Cases</a:t>
            </a:r>
            <a:endParaRPr/>
          </a:p>
        </p:txBody>
      </p:sp>
      <p:sp>
        <p:nvSpPr>
          <p:cNvPr id="229" name="Google Shape;229;g3ac89704b40_1_26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Verified navigation across Home, Alerts, Log, and Settings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Tested simulated fall alerts, reminders, and acknowledgement flow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Theme selector (Light/Dark) fully functional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Gotify to Fall log pipeline </a:t>
            </a:r>
            <a:r>
              <a:rPr lang="en-US" sz="1600"/>
              <a:t>implemented</a:t>
            </a:r>
            <a:r>
              <a:rPr lang="en-US" sz="1600"/>
              <a:t> in code; live server testing planned for integration in 404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