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Helvetica Neue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Ej8Hm+qVxB9QDiQwHDrltR0jH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88E0AE-92A7-4A59-BA11-6CABAF939E6C}">
  <a:tblStyle styleId="{1C88E0AE-92A7-4A59-BA11-6CABAF939E6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BC72B5B-CD1B-44C9-83EE-C3A574B72F6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42464f0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0" name="Google Shape;70;g3842464f06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42464f06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0" name="Google Shape;80;g3842464f060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Cloud server and database</a:t>
            </a:r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42464f06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3" name="Google Shape;103;g3842464f060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2464f060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842464f06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42464f060_0_2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842464f060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42464f06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842464f060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7891221f4_1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87891221f4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42464f06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842464f060_0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4748064b0_4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4748064b0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42464f06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842464f060_0_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836747b86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9836747b86_2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42464f060_0_1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842464f06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e474e11da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8e474e11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87891221f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8789122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3969582" y="1597819"/>
            <a:ext cx="448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124200" y="2914650"/>
            <a:ext cx="53340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175609"/>
            <a:ext cx="1820617" cy="309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457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2" type="body"/>
          </p:nvPr>
        </p:nvSpPr>
        <p:spPr>
          <a:xfrm>
            <a:off x="4648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12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457200" y="217548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800226"/>
            <a:ext cx="3008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3575050" y="805290"/>
            <a:ext cx="51117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0" y="1352888"/>
            <a:ext cx="3008400" cy="3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type="title"/>
          </p:nvPr>
        </p:nvSpPr>
        <p:spPr>
          <a:xfrm>
            <a:off x="457200" y="897323"/>
            <a:ext cx="2573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" name="Google Shape;45;p15"/>
          <p:cNvSpPr/>
          <p:nvPr>
            <p:ph idx="2" type="pic"/>
          </p:nvPr>
        </p:nvSpPr>
        <p:spPr>
          <a:xfrm>
            <a:off x="3200400" y="897322"/>
            <a:ext cx="5486400" cy="3637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326032"/>
            <a:ext cx="2573700" cy="3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6.jpg"/><Relationship Id="rId5" Type="http://schemas.openxmlformats.org/officeDocument/2006/relationships/image" Target="../media/image23.png"/><Relationship Id="rId6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29.png"/><Relationship Id="rId5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969582" y="1597819"/>
            <a:ext cx="448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ECE</a:t>
            </a:r>
            <a:r>
              <a:rPr lang="en-US"/>
              <a:t>N</a:t>
            </a: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403</a:t>
            </a:r>
            <a:b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Midterm Presentation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0" y="0"/>
            <a:ext cx="4077000" cy="45834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828988"/>
            <a:ext cx="2320000" cy="39421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1070850" y="2825975"/>
            <a:ext cx="7926600" cy="1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RADIAN - RADar </a:t>
            </a:r>
            <a:r>
              <a:rPr lang="en-US"/>
              <a:t>Intelligent</a:t>
            </a:r>
            <a:r>
              <a:rPr lang="en-US"/>
              <a:t> Activity moNitoring</a:t>
            </a:r>
            <a:b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/>
              <a:t>Presented by: Matthew Blackwell, Wyatt Johnson, Mitch Hoffman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 sz="2400"/>
              <a:t>TA: Roman Venegas</a:t>
            </a:r>
            <a:endParaRPr sz="2400"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 sz="2400"/>
              <a:t>Sponsor: Dr. Arya Menon</a:t>
            </a:r>
            <a:br>
              <a:rPr lang="en-US"/>
            </a:br>
            <a:endParaRPr/>
          </a:p>
        </p:txBody>
      </p:sp>
      <p:sp>
        <p:nvSpPr>
          <p:cNvPr id="58" name="Google Shape;58;p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Summary</a:t>
            </a:r>
            <a:endParaRPr/>
          </a:p>
        </p:txBody>
      </p:sp>
      <p:sp>
        <p:nvSpPr>
          <p:cNvPr id="64" name="Google Shape;64;p2"/>
          <p:cNvSpPr txBox="1"/>
          <p:nvPr>
            <p:ph idx="1" type="body"/>
          </p:nvPr>
        </p:nvSpPr>
        <p:spPr>
          <a:xfrm>
            <a:off x="457200" y="1389700"/>
            <a:ext cx="5359500" cy="30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indent="-355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State/succinctly describe the problem that warrants spending the time, effort, and cost to develop a product or service to address the problem.</a:t>
            </a:r>
            <a:endParaRPr/>
          </a:p>
          <a:p>
            <a:pPr indent="-355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“Because the sponsor told us”, listing 3 or 4 or 11 problems, and casting a solution as a problem “lack of a deployed LLM for dentistry” are NOT problem statements</a:t>
            </a:r>
            <a:endParaRPr/>
          </a:p>
          <a:p>
            <a:pPr indent="-355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ONE OVERALL PROBLEM!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Our Solution:</a:t>
            </a:r>
            <a:endParaRPr/>
          </a:p>
          <a:p>
            <a:pPr indent="-35560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What is the major contribution of your product that solves/addresses this problem.</a:t>
            </a:r>
            <a:endParaRPr/>
          </a:p>
          <a:p>
            <a:pPr indent="-35560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DO NOT list 3 or 11 characteristics of your system and expect the listener to figure out how this solve the problem you stated above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6127750" y="2236293"/>
            <a:ext cx="2984400" cy="1169700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ENGINEERING figure here…eg plot showing the trend of the problem getting worse, figure showing a failed product, good logo for your product, … </a:t>
            </a:r>
            <a:endParaRPr/>
          </a:p>
        </p:txBody>
      </p:sp>
      <p:sp>
        <p:nvSpPr>
          <p:cNvPr id="67" name="Google Shape;67;p2"/>
          <p:cNvSpPr txBox="1"/>
          <p:nvPr/>
        </p:nvSpPr>
        <p:spPr>
          <a:xfrm>
            <a:off x="6127750" y="3526093"/>
            <a:ext cx="2984400" cy="1600800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Draw a picture of your proposed solution. Show all the pieces and how they are connected to build the final product. This is NOT the FSR block diagram but a cartoon/picture.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show two paragraphs!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g3842464f06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625" y="3730450"/>
            <a:ext cx="1214510" cy="14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g3842464f06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5412" y="3730450"/>
            <a:ext cx="1433195" cy="14268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842464f060_0_0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lang="en-US"/>
              <a:t>Problem</a:t>
            </a:r>
            <a:r>
              <a:rPr lang="en-US"/>
              <a:t> Statement</a:t>
            </a:r>
            <a:endParaRPr/>
          </a:p>
        </p:txBody>
      </p:sp>
      <p:sp>
        <p:nvSpPr>
          <p:cNvPr id="75" name="Google Shape;75;g3842464f060_0_0"/>
          <p:cNvSpPr txBox="1"/>
          <p:nvPr>
            <p:ph idx="1" type="body"/>
          </p:nvPr>
        </p:nvSpPr>
        <p:spPr>
          <a:xfrm>
            <a:off x="297000" y="1424225"/>
            <a:ext cx="8550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Falls are the leading cause of </a:t>
            </a:r>
            <a:r>
              <a:rPr lang="en-US" sz="2200"/>
              <a:t>injury</a:t>
            </a:r>
            <a:r>
              <a:rPr lang="en-US" sz="2200"/>
              <a:t> in elderly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100"/>
              <a:t>F</a:t>
            </a:r>
            <a:r>
              <a:rPr lang="en-US" sz="2200"/>
              <a:t>ast </a:t>
            </a:r>
            <a:r>
              <a:rPr lang="en-US" sz="2100"/>
              <a:t>d</a:t>
            </a:r>
            <a:r>
              <a:rPr lang="en-US" sz="2200"/>
              <a:t>etection saves lives through quick response</a:t>
            </a:r>
            <a:endParaRPr sz="2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Current Solutions - Limitations:</a:t>
            </a:r>
            <a:endParaRPr b="1"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Wearables → must be worn and charged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Push-buttons</a:t>
            </a:r>
            <a:r>
              <a:rPr lang="en-US" sz="2200"/>
              <a:t> → </a:t>
            </a:r>
            <a:r>
              <a:rPr lang="en-US" sz="2200"/>
              <a:t>user must be </a:t>
            </a:r>
            <a:r>
              <a:rPr lang="en-US" sz="2200"/>
              <a:t>conscious/a</a:t>
            </a:r>
            <a:r>
              <a:rPr lang="en-US" sz="2200"/>
              <a:t>ble to press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Camera</a:t>
            </a:r>
            <a:r>
              <a:rPr lang="en-US" sz="2200"/>
              <a:t> → </a:t>
            </a:r>
            <a:r>
              <a:rPr lang="en-US" sz="2200"/>
              <a:t>effective but invade privacy</a:t>
            </a:r>
            <a:endParaRPr sz="2200"/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g3842464f060_0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g3842464f060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3851" y="3550826"/>
            <a:ext cx="1592674" cy="159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3842464f060_0_8" title="Concept Image.png"/>
          <p:cNvPicPr preferRelativeResize="0"/>
          <p:nvPr/>
        </p:nvPicPr>
        <p:blipFill rotWithShape="1">
          <a:blip r:embed="rId3">
            <a:alphaModFix/>
          </a:blip>
          <a:srcRect b="20160" l="0" r="0" t="0"/>
          <a:stretch/>
        </p:blipFill>
        <p:spPr>
          <a:xfrm>
            <a:off x="-86800" y="1531185"/>
            <a:ext cx="5146800" cy="30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842464f060_0_8"/>
          <p:cNvSpPr txBox="1"/>
          <p:nvPr>
            <p:ph type="title"/>
          </p:nvPr>
        </p:nvSpPr>
        <p:spPr>
          <a:xfrm>
            <a:off x="3347775" y="229075"/>
            <a:ext cx="63813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lang="en-US"/>
              <a:t>RADIAN System Summary</a:t>
            </a:r>
            <a:endParaRPr/>
          </a:p>
        </p:txBody>
      </p:sp>
      <p:sp>
        <p:nvSpPr>
          <p:cNvPr id="84" name="Google Shape;84;g3842464f060_0_8"/>
          <p:cNvSpPr txBox="1"/>
          <p:nvPr>
            <p:ph idx="1" type="body"/>
          </p:nvPr>
        </p:nvSpPr>
        <p:spPr>
          <a:xfrm>
            <a:off x="4993014" y="1012425"/>
            <a:ext cx="38274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100" u="sng"/>
              <a:t>Proposed</a:t>
            </a:r>
            <a:r>
              <a:rPr b="1" lang="en-US" sz="2100" u="sng"/>
              <a:t> Solution:</a:t>
            </a:r>
            <a:endParaRPr b="1" sz="2100" u="sng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100" u="sng"/>
          </a:p>
          <a:p>
            <a:pPr indent="-3619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Automatic</a:t>
            </a:r>
            <a:r>
              <a:rPr lang="en-US" sz="2100"/>
              <a:t> Fall Detection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Works in real time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No user action needed</a:t>
            </a:r>
            <a:endParaRPr sz="2100"/>
          </a:p>
          <a:p>
            <a:pPr indent="0" lvl="0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Privacy-Preserving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No </a:t>
            </a:r>
            <a:r>
              <a:rPr lang="en-US" sz="2100"/>
              <a:t>camera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Protects</a:t>
            </a:r>
            <a:r>
              <a:rPr lang="en-US" sz="2100"/>
              <a:t> </a:t>
            </a:r>
            <a:r>
              <a:rPr lang="en-US" sz="2100"/>
              <a:t>independence</a:t>
            </a:r>
            <a:endParaRPr sz="2100"/>
          </a:p>
          <a:p>
            <a:pPr indent="0" lvl="0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Reliable Response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Immediate</a:t>
            </a:r>
            <a:r>
              <a:rPr lang="en-US" sz="2100"/>
              <a:t> accurate alerts to caregivers</a:t>
            </a:r>
            <a:endParaRPr sz="2100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g3842464f060_0_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/>
          <p:nvPr>
            <p:ph type="title"/>
          </p:nvPr>
        </p:nvSpPr>
        <p:spPr>
          <a:xfrm>
            <a:off x="457200" y="617277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i="0" lang="en-US" u="none" cap="none" strike="noStrike">
                <a:solidFill>
                  <a:schemeClr val="dk1"/>
                </a:solidFill>
              </a:rPr>
              <a:t>System</a:t>
            </a:r>
            <a:r>
              <a:rPr lang="en-US"/>
              <a:t> Overview</a:t>
            </a:r>
            <a:endParaRPr/>
          </a:p>
        </p:txBody>
      </p:sp>
      <p:sp>
        <p:nvSpPr>
          <p:cNvPr id="91" name="Google Shape;91;p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598842" y="1220094"/>
            <a:ext cx="2091900" cy="1558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902503" y="1220094"/>
            <a:ext cx="2091900" cy="2906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180600" y="1220094"/>
            <a:ext cx="2506200" cy="13203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483350" y="2778669"/>
            <a:ext cx="1870500" cy="9036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770829" y="918686"/>
            <a:ext cx="1656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member 1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4338378" y="4128347"/>
            <a:ext cx="1656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member 2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6492143" y="776206"/>
            <a:ext cx="1656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member 3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6590587" y="3606219"/>
            <a:ext cx="1656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member 4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217466" y="2778669"/>
            <a:ext cx="3498900" cy="24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figure should clearly show what HW &amp; SW are being developed / integrated into each subsystem. Some interconnected boxes </a:t>
            </a: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showing how subsystems will be connected for system.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Owner should be clear … name and color code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Interfaces – arrows between boxes, where known should be labeled…Bluetooth, I2C, Websocket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Push notifications, USB, LORA, …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NOT TOO MUCH DETAIL!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42464f060_0_16"/>
          <p:cNvSpPr txBox="1"/>
          <p:nvPr>
            <p:ph type="title"/>
          </p:nvPr>
        </p:nvSpPr>
        <p:spPr>
          <a:xfrm>
            <a:off x="457200" y="617277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i="0" lang="en-US" u="none" cap="none" strike="noStrike">
                <a:solidFill>
                  <a:schemeClr val="dk1"/>
                </a:solidFill>
              </a:rPr>
              <a:t>System</a:t>
            </a:r>
            <a:r>
              <a:rPr lang="en-US"/>
              <a:t> Overview</a:t>
            </a:r>
            <a:endParaRPr/>
          </a:p>
        </p:txBody>
      </p:sp>
      <p:sp>
        <p:nvSpPr>
          <p:cNvPr id="106" name="Google Shape;106;g3842464f060_0_1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g3842464f060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775" y="971425"/>
            <a:ext cx="6702450" cy="402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Subsystem 1 – OWNER NAME</a:t>
            </a:r>
            <a:endParaRPr/>
          </a:p>
        </p:txBody>
      </p:sp>
      <p:sp>
        <p:nvSpPr>
          <p:cNvPr id="113" name="Google Shape;113;p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2901429" y="1389658"/>
            <a:ext cx="3341100" cy="1816200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ENGINEERING figure here showing details of what is being developed….don’t show blocks of code or sheets of schematics. Don’t show clip-art or stock images or powerpoint handshakes, emojis, …  </a:t>
            </a:r>
            <a:endParaRPr/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457200" y="2765021"/>
            <a:ext cx="8229600" cy="22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What does the subsystem do?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How is it being designed (what design tools, what parts eg. MCU type, key mechanicals,…)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Key objectives, constraints, metrics (from FSR)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How will it connect to and interact with other subsystems (from ICD)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If you have picked SW language, parts, show a tradeoff table that led you to that decision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Use a subsystem name instead of Subsystem 1,2,3,4 such as App/Database, MCU and Sensors, Power System, ML for Image Processing, etc.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42464f060_0_30"/>
          <p:cNvSpPr txBox="1"/>
          <p:nvPr>
            <p:ph type="title"/>
          </p:nvPr>
        </p:nvSpPr>
        <p:spPr>
          <a:xfrm>
            <a:off x="2566575" y="534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3000"/>
              <a:t>Data - Matthew Blackwell</a:t>
            </a:r>
            <a:endParaRPr sz="3000"/>
          </a:p>
        </p:txBody>
      </p:sp>
      <p:sp>
        <p:nvSpPr>
          <p:cNvPr id="121" name="Google Shape;121;g3842464f060_0_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g3842464f060_0_30"/>
          <p:cNvSpPr txBox="1"/>
          <p:nvPr>
            <p:ph idx="1" type="body"/>
          </p:nvPr>
        </p:nvSpPr>
        <p:spPr>
          <a:xfrm>
            <a:off x="5018625" y="656125"/>
            <a:ext cx="4395900" cy="4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Subsystem Function: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Provide an accurate ML model for determining if a fall </a:t>
            </a:r>
            <a:r>
              <a:rPr lang="en-US" sz="1800"/>
              <a:t>occurred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Design Overview: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Raspberry Pi 3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Python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Scikit &amp; Panda 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Constraints: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Number of data tests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Compatibility with TI Board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ANN vs. Simple ML model</a:t>
            </a:r>
            <a:endParaRPr sz="1800"/>
          </a:p>
        </p:txBody>
      </p:sp>
      <p:pic>
        <p:nvPicPr>
          <p:cNvPr id="123" name="Google Shape;123;g3842464f060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3475"/>
            <a:ext cx="5943600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842464f060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1675" y="3703323"/>
            <a:ext cx="2133600" cy="1440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42464f060_0_207"/>
          <p:cNvSpPr txBox="1"/>
          <p:nvPr>
            <p:ph type="title"/>
          </p:nvPr>
        </p:nvSpPr>
        <p:spPr>
          <a:xfrm>
            <a:off x="2566575" y="534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3000"/>
              <a:t>Data - Matthew Blackwell</a:t>
            </a:r>
            <a:endParaRPr sz="3000"/>
          </a:p>
        </p:txBody>
      </p:sp>
      <p:sp>
        <p:nvSpPr>
          <p:cNvPr id="130" name="Google Shape;130;g3842464f060_0_20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g3842464f060_0_207"/>
          <p:cNvSpPr txBox="1"/>
          <p:nvPr>
            <p:ph idx="1" type="body"/>
          </p:nvPr>
        </p:nvSpPr>
        <p:spPr>
          <a:xfrm>
            <a:off x="5018625" y="1052488"/>
            <a:ext cx="4395900" cy="4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Subsystem Function: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Design and create a Python script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to send </a:t>
            </a:r>
            <a:r>
              <a:rPr lang="en-US" sz="1800"/>
              <a:t>message</a:t>
            </a:r>
            <a:r>
              <a:rPr lang="en-US" sz="1800"/>
              <a:t> to Gotify server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Design Overview: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Raspberry Pi 3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Gotify to send Push Notifications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Constraints: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Integration with the TI Board</a:t>
            </a:r>
            <a:endParaRPr sz="1800"/>
          </a:p>
        </p:txBody>
      </p:sp>
      <p:pic>
        <p:nvPicPr>
          <p:cNvPr id="132" name="Google Shape;132;g3842464f060_0_2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21576"/>
            <a:ext cx="1925150" cy="156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842464f060_0_2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8575" y="743624"/>
            <a:ext cx="3220051" cy="45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42464f060_0_37"/>
          <p:cNvSpPr txBox="1"/>
          <p:nvPr/>
        </p:nvSpPr>
        <p:spPr>
          <a:xfrm>
            <a:off x="2209800" y="7076"/>
            <a:ext cx="66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-"/>
            </a:pPr>
            <a:r>
              <a:rPr lang="en-US" sz="3600">
                <a:solidFill>
                  <a:schemeClr val="dk1"/>
                </a:solidFill>
              </a:rPr>
              <a:t>Data </a:t>
            </a:r>
            <a:r>
              <a:rPr i="0" lang="en-US" sz="3600" u="none" cap="none" strike="noStrike">
                <a:solidFill>
                  <a:schemeClr val="dk1"/>
                </a:solidFill>
              </a:rPr>
              <a:t>-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 				</a:t>
            </a:r>
            <a:r>
              <a:rPr lang="en-US" sz="1800">
                <a:solidFill>
                  <a:schemeClr val="dk1"/>
                </a:solidFill>
              </a:rPr>
              <a:t>Matthew Blackwell</a:t>
            </a:r>
            <a:endParaRPr/>
          </a:p>
        </p:txBody>
      </p:sp>
      <p:graphicFrame>
        <p:nvGraphicFramePr>
          <p:cNvPr id="139" name="Google Shape;139;g3842464f060_0_37"/>
          <p:cNvGraphicFramePr/>
          <p:nvPr/>
        </p:nvGraphicFramePr>
        <p:xfrm>
          <a:off x="4357550" y="17695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{1C88E0AE-92A7-4A59-BA11-6CABAF939E6C}</a:tableStyleId>
              </a:tblPr>
              <a:tblGrid>
                <a:gridCol w="2240825"/>
                <a:gridCol w="2240825"/>
              </a:tblGrid>
              <a:tr h="49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What has been </a:t>
                      </a:r>
                      <a:r>
                        <a:rPr lang="en-US" sz="1350"/>
                        <a:t>accomplished</a:t>
                      </a:r>
                      <a:r>
                        <a:rPr lang="en-US" sz="1350"/>
                        <a:t> by Data?</a:t>
                      </a:r>
                      <a:endParaRPr sz="1050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Challenges going into Capstone Blitz</a:t>
                      </a:r>
                      <a:endParaRPr sz="1050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9375"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Installed Raspberry Pi OS and established GitHub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Created a simple </a:t>
                      </a:r>
                      <a:r>
                        <a:rPr lang="en-US" sz="1350"/>
                        <a:t>decision</a:t>
                      </a:r>
                      <a:r>
                        <a:rPr lang="en-US" sz="1350"/>
                        <a:t> tree ML model using dummy data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Artificial</a:t>
                      </a:r>
                      <a:r>
                        <a:rPr lang="en-US" sz="1350"/>
                        <a:t> </a:t>
                      </a:r>
                      <a:r>
                        <a:rPr lang="en-US" sz="1350"/>
                        <a:t>Neural</a:t>
                      </a:r>
                      <a:r>
                        <a:rPr lang="en-US" sz="1350"/>
                        <a:t> Networks vs. Simple ML model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Obtaining datasets to train the ML model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0" name="Google Shape;140;g3842464f060_0_37" title="RADIAN_code_snap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25" y="693000"/>
            <a:ext cx="3763827" cy="4358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981525" y="1369950"/>
            <a:ext cx="2175300" cy="106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Wireless – Mitch Hoffman</a:t>
            </a:r>
            <a:endParaRPr/>
          </a:p>
        </p:txBody>
      </p:sp>
      <p:sp>
        <p:nvSpPr>
          <p:cNvPr id="147" name="Google Shape;147;p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5"/>
          <p:cNvSpPr txBox="1"/>
          <p:nvPr>
            <p:ph idx="1" type="body"/>
          </p:nvPr>
        </p:nvSpPr>
        <p:spPr>
          <a:xfrm>
            <a:off x="3708925" y="1425450"/>
            <a:ext cx="4602900" cy="22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Subsystem Function:</a:t>
            </a:r>
            <a:endParaRPr sz="14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Processes motion data from radar and sends to Pi for fall detection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Design </a:t>
            </a:r>
            <a:r>
              <a:rPr lang="en-US" sz="1400"/>
              <a:t>Overview</a:t>
            </a:r>
            <a:r>
              <a:rPr lang="en-US" sz="1400"/>
              <a:t>:</a:t>
            </a:r>
            <a:endParaRPr sz="14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AWR6843ISK  </a:t>
            </a:r>
            <a:endParaRPr sz="12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Spyder</a:t>
            </a:r>
            <a:endParaRPr sz="12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Python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Constraints:</a:t>
            </a:r>
            <a:endParaRPr sz="14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Interface compatibility</a:t>
            </a:r>
            <a:endParaRPr sz="12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Radar reliability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9" name="Google Shape;149;p5"/>
          <p:cNvSpPr/>
          <p:nvPr/>
        </p:nvSpPr>
        <p:spPr>
          <a:xfrm>
            <a:off x="1130775" y="1460250"/>
            <a:ext cx="1876800" cy="8874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Radar (AWR6843ISK)</a:t>
            </a:r>
            <a:endParaRPr sz="1200"/>
          </a:p>
        </p:txBody>
      </p:sp>
      <p:sp>
        <p:nvSpPr>
          <p:cNvPr id="150" name="Google Shape;150;p5"/>
          <p:cNvSpPr/>
          <p:nvPr/>
        </p:nvSpPr>
        <p:spPr>
          <a:xfrm>
            <a:off x="1321125" y="2779250"/>
            <a:ext cx="1500000" cy="66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Raspberry Pi 3</a:t>
            </a:r>
            <a:endParaRPr sz="1200"/>
          </a:p>
        </p:txBody>
      </p:sp>
      <p:sp>
        <p:nvSpPr>
          <p:cNvPr id="151" name="Google Shape;151;p5"/>
          <p:cNvSpPr/>
          <p:nvPr/>
        </p:nvSpPr>
        <p:spPr>
          <a:xfrm>
            <a:off x="1130775" y="3879875"/>
            <a:ext cx="1876800" cy="887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Mobile App</a:t>
            </a:r>
            <a:endParaRPr/>
          </a:p>
        </p:txBody>
      </p:sp>
      <p:cxnSp>
        <p:nvCxnSpPr>
          <p:cNvPr id="152" name="Google Shape;152;p5"/>
          <p:cNvCxnSpPr>
            <a:stCxn id="149" idx="2"/>
            <a:endCxn id="150" idx="0"/>
          </p:cNvCxnSpPr>
          <p:nvPr/>
        </p:nvCxnSpPr>
        <p:spPr>
          <a:xfrm>
            <a:off x="2069175" y="2347650"/>
            <a:ext cx="210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5"/>
          <p:cNvCxnSpPr>
            <a:stCxn id="150" idx="2"/>
            <a:endCxn id="151" idx="0"/>
          </p:cNvCxnSpPr>
          <p:nvPr/>
        </p:nvCxnSpPr>
        <p:spPr>
          <a:xfrm flipH="1">
            <a:off x="2069025" y="3448250"/>
            <a:ext cx="210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4" name="Google Shape;15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6838" y="2601950"/>
            <a:ext cx="3926325" cy="22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7891221f4_1_24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Wireless – Mitch Hoffman</a:t>
            </a:r>
            <a:endParaRPr/>
          </a:p>
        </p:txBody>
      </p:sp>
      <p:sp>
        <p:nvSpPr>
          <p:cNvPr id="160" name="Google Shape;160;g387891221f4_1_2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g387891221f4_1_24"/>
          <p:cNvSpPr txBox="1"/>
          <p:nvPr>
            <p:ph idx="1" type="body"/>
          </p:nvPr>
        </p:nvSpPr>
        <p:spPr>
          <a:xfrm>
            <a:off x="3445625" y="1389575"/>
            <a:ext cx="4602900" cy="22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Subsystem Function:</a:t>
            </a:r>
            <a:endParaRPr sz="12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Pi transmits fall alerts via Wifi to the cloud then to a mobile app for user notification 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Design Overview:</a:t>
            </a:r>
            <a:r>
              <a:rPr lang="en-US" sz="1200"/>
              <a:t> </a:t>
            </a:r>
            <a:endParaRPr sz="12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Flutter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Constraints:</a:t>
            </a:r>
            <a:endParaRPr sz="12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Reliable wireless communication</a:t>
            </a:r>
            <a:endParaRPr sz="12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Minimalist app interface</a:t>
            </a:r>
            <a:endParaRPr sz="1200"/>
          </a:p>
        </p:txBody>
      </p:sp>
      <p:sp>
        <p:nvSpPr>
          <p:cNvPr id="162" name="Google Shape;162;g387891221f4_1_24"/>
          <p:cNvSpPr/>
          <p:nvPr/>
        </p:nvSpPr>
        <p:spPr>
          <a:xfrm>
            <a:off x="981525" y="3789575"/>
            <a:ext cx="2175300" cy="106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87891221f4_1_24"/>
          <p:cNvSpPr/>
          <p:nvPr/>
        </p:nvSpPr>
        <p:spPr>
          <a:xfrm>
            <a:off x="1130775" y="1460250"/>
            <a:ext cx="1876800" cy="887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Raspberry Pi 3</a:t>
            </a:r>
            <a:endParaRPr sz="1200"/>
          </a:p>
        </p:txBody>
      </p:sp>
      <p:sp>
        <p:nvSpPr>
          <p:cNvPr id="164" name="Google Shape;164;g387891221f4_1_24"/>
          <p:cNvSpPr/>
          <p:nvPr/>
        </p:nvSpPr>
        <p:spPr>
          <a:xfrm>
            <a:off x="1321125" y="2779250"/>
            <a:ext cx="1500000" cy="66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Cloud</a:t>
            </a:r>
            <a:endParaRPr sz="1200"/>
          </a:p>
        </p:txBody>
      </p:sp>
      <p:sp>
        <p:nvSpPr>
          <p:cNvPr id="165" name="Google Shape;165;g387891221f4_1_24"/>
          <p:cNvSpPr/>
          <p:nvPr/>
        </p:nvSpPr>
        <p:spPr>
          <a:xfrm>
            <a:off x="1130775" y="3879875"/>
            <a:ext cx="1876800" cy="8874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Mobile App</a:t>
            </a:r>
            <a:endParaRPr/>
          </a:p>
        </p:txBody>
      </p:sp>
      <p:cxnSp>
        <p:nvCxnSpPr>
          <p:cNvPr id="166" name="Google Shape;166;g387891221f4_1_24"/>
          <p:cNvCxnSpPr>
            <a:stCxn id="163" idx="2"/>
            <a:endCxn id="164" idx="0"/>
          </p:cNvCxnSpPr>
          <p:nvPr/>
        </p:nvCxnSpPr>
        <p:spPr>
          <a:xfrm>
            <a:off x="2069175" y="2347650"/>
            <a:ext cx="210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g387891221f4_1_24"/>
          <p:cNvCxnSpPr>
            <a:stCxn id="164" idx="2"/>
            <a:endCxn id="165" idx="0"/>
          </p:cNvCxnSpPr>
          <p:nvPr/>
        </p:nvCxnSpPr>
        <p:spPr>
          <a:xfrm flipH="1">
            <a:off x="2069025" y="3448250"/>
            <a:ext cx="210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8" name="Google Shape;168;g387891221f4_1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8150" y="2347650"/>
            <a:ext cx="2795850" cy="27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42464f060_0_88"/>
          <p:cNvSpPr txBox="1"/>
          <p:nvPr/>
        </p:nvSpPr>
        <p:spPr>
          <a:xfrm>
            <a:off x="2209800" y="7076"/>
            <a:ext cx="66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-"/>
            </a:pPr>
            <a:r>
              <a:rPr lang="en-US" sz="3600">
                <a:solidFill>
                  <a:schemeClr val="dk1"/>
                </a:solidFill>
              </a:rPr>
              <a:t>Wireless </a:t>
            </a:r>
            <a:r>
              <a:rPr i="0" lang="en-US" sz="3600" u="none" cap="none" strike="noStrike">
                <a:solidFill>
                  <a:schemeClr val="dk1"/>
                </a:solidFill>
              </a:rPr>
              <a:t>-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 				</a:t>
            </a:r>
            <a:r>
              <a:rPr lang="en-US" sz="1800">
                <a:solidFill>
                  <a:schemeClr val="dk1"/>
                </a:solidFill>
              </a:rPr>
              <a:t>Mitch</a:t>
            </a:r>
            <a:r>
              <a:rPr lang="en-US" sz="1800">
                <a:solidFill>
                  <a:schemeClr val="dk1"/>
                </a:solidFill>
              </a:rPr>
              <a:t> Hoffman</a:t>
            </a:r>
            <a:endParaRPr/>
          </a:p>
        </p:txBody>
      </p:sp>
      <p:graphicFrame>
        <p:nvGraphicFramePr>
          <p:cNvPr id="174" name="Google Shape;174;g3842464f060_0_88"/>
          <p:cNvGraphicFramePr/>
          <p:nvPr/>
        </p:nvGraphicFramePr>
        <p:xfrm>
          <a:off x="685800" y="99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{1C88E0AE-92A7-4A59-BA11-6CABAF939E6C}</a:tableStyleId>
              </a:tblPr>
              <a:tblGrid>
                <a:gridCol w="3886200"/>
                <a:gridCol w="3886200"/>
              </a:tblGrid>
              <a:tr h="35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/>
                        <a:t>Accomplishments</a:t>
                      </a:r>
                      <a:r>
                        <a:rPr lang="en-US" sz="1350"/>
                        <a:t> for wireless subsystem</a:t>
                      </a:r>
                      <a:r>
                        <a:rPr lang="en-US" sz="1350" u="none" cap="none" strike="noStrike"/>
                        <a:t>                              </a:t>
                      </a:r>
                      <a:endParaRPr sz="1050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Ongoing progress and plans until the next presentation</a:t>
                      </a:r>
                      <a:endParaRPr sz="1050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7225"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Decided on radar for device and demoed said radar 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Installed software to create app interface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Start code to process radar data needed for raspberry pi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Develop a basic interface for the app 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5" name="Google Shape;175;g3842464f060_0_88" title="Screenshot 2025-09-30 2225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8225" y="2457450"/>
            <a:ext cx="4686525" cy="257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/>
          <p:nvPr>
            <p:ph type="title"/>
          </p:nvPr>
        </p:nvSpPr>
        <p:spPr>
          <a:xfrm>
            <a:off x="3152400" y="156206"/>
            <a:ext cx="66063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Physical – Wyatt Johnson</a:t>
            </a:r>
            <a:endParaRPr/>
          </a:p>
        </p:txBody>
      </p:sp>
      <p:sp>
        <p:nvSpPr>
          <p:cNvPr id="181" name="Google Shape;181;p6"/>
          <p:cNvSpPr txBox="1"/>
          <p:nvPr>
            <p:ph idx="12" type="sldNum"/>
          </p:nvPr>
        </p:nvSpPr>
        <p:spPr>
          <a:xfrm>
            <a:off x="6591600" y="47864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6"/>
          <p:cNvSpPr txBox="1"/>
          <p:nvPr>
            <p:ph idx="1" type="body"/>
          </p:nvPr>
        </p:nvSpPr>
        <p:spPr>
          <a:xfrm>
            <a:off x="230550" y="689550"/>
            <a:ext cx="7029900" cy="28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/>
              <a:t>Power &amp; Battery Subsystem: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Subsystem function: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Provide power, battery protection, and charging</a:t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Design Overview: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MCU/Control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Batteries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Power conversion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Monitoring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Altium</a:t>
            </a:r>
            <a:endParaRPr sz="1800"/>
          </a:p>
        </p:txBody>
      </p:sp>
      <p:sp>
        <p:nvSpPr>
          <p:cNvPr id="183" name="Google Shape;183;p6"/>
          <p:cNvSpPr txBox="1"/>
          <p:nvPr/>
        </p:nvSpPr>
        <p:spPr>
          <a:xfrm>
            <a:off x="2584089" y="1732704"/>
            <a:ext cx="32886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Constraints: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Battery Safety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Thermal management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Interface compatibility</a:t>
            </a:r>
            <a:endParaRPr sz="3200">
              <a:solidFill>
                <a:schemeClr val="dk1"/>
              </a:solidFill>
            </a:endParaRPr>
          </a:p>
        </p:txBody>
      </p:sp>
      <p:grpSp>
        <p:nvGrpSpPr>
          <p:cNvPr id="184" name="Google Shape;184;p6"/>
          <p:cNvGrpSpPr/>
          <p:nvPr/>
        </p:nvGrpSpPr>
        <p:grpSpPr>
          <a:xfrm>
            <a:off x="0" y="1439675"/>
            <a:ext cx="9243025" cy="3256804"/>
            <a:chOff x="0" y="1439675"/>
            <a:chExt cx="9243025" cy="3256804"/>
          </a:xfrm>
        </p:grpSpPr>
        <p:cxnSp>
          <p:nvCxnSpPr>
            <p:cNvPr id="185" name="Google Shape;185;p6"/>
            <p:cNvCxnSpPr/>
            <p:nvPr/>
          </p:nvCxnSpPr>
          <p:spPr>
            <a:xfrm>
              <a:off x="3771250" y="3537750"/>
              <a:ext cx="467100" cy="381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6" name="Google Shape;186;p6"/>
            <p:cNvCxnSpPr>
              <a:endCxn id="187" idx="2"/>
            </p:cNvCxnSpPr>
            <p:nvPr/>
          </p:nvCxnSpPr>
          <p:spPr>
            <a:xfrm rot="10800000">
              <a:off x="6328830" y="2614249"/>
              <a:ext cx="2052300" cy="12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8" name="Google Shape;188;p6"/>
            <p:cNvCxnSpPr>
              <a:endCxn id="189" idx="2"/>
            </p:cNvCxnSpPr>
            <p:nvPr/>
          </p:nvCxnSpPr>
          <p:spPr>
            <a:xfrm rot="10800000">
              <a:off x="8147100" y="2672575"/>
              <a:ext cx="231300" cy="114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190" name="Google Shape;190;p6" title="Untitled diagram _ Mermaid Chart-2025-09-28-203649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3790115"/>
              <a:ext cx="9144003" cy="9063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545550" y="1556824"/>
              <a:ext cx="1566560" cy="1057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51175" y="1439675"/>
              <a:ext cx="2191850" cy="1232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1" name="Google Shape;191;p6"/>
            <p:cNvGrpSpPr/>
            <p:nvPr/>
          </p:nvGrpSpPr>
          <p:grpSpPr>
            <a:xfrm rot="-5400000">
              <a:off x="3359405" y="2591091"/>
              <a:ext cx="717466" cy="1433779"/>
              <a:chOff x="4330900" y="1638300"/>
              <a:chExt cx="934200" cy="1866900"/>
            </a:xfrm>
          </p:grpSpPr>
          <p:pic>
            <p:nvPicPr>
              <p:cNvPr id="192" name="Google Shape;192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35937" r="36820" t="0"/>
              <a:stretch/>
            </p:blipFill>
            <p:spPr>
              <a:xfrm>
                <a:off x="4330900" y="1638300"/>
                <a:ext cx="467100" cy="1866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3" name="Google Shape;193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35937" r="36820" t="0"/>
              <a:stretch/>
            </p:blipFill>
            <p:spPr>
              <a:xfrm>
                <a:off x="4798000" y="1638300"/>
                <a:ext cx="467100" cy="1866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94" name="Google Shape;194;p6"/>
            <p:cNvSpPr txBox="1"/>
            <p:nvPr/>
          </p:nvSpPr>
          <p:spPr>
            <a:xfrm>
              <a:off x="3760400" y="4211825"/>
              <a:ext cx="1007100" cy="347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</a:rPr>
                <a:t>3.7v 3500mAh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195" name="Google Shape;195;p6"/>
            <p:cNvSpPr txBox="1"/>
            <p:nvPr/>
          </p:nvSpPr>
          <p:spPr>
            <a:xfrm>
              <a:off x="2503325" y="4292650"/>
              <a:ext cx="701100" cy="22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4748064b0_4_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g384748064b0_4_8"/>
          <p:cNvSpPr txBox="1"/>
          <p:nvPr/>
        </p:nvSpPr>
        <p:spPr>
          <a:xfrm>
            <a:off x="401575" y="905975"/>
            <a:ext cx="74868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chemeClr val="dk1"/>
                </a:solidFill>
              </a:rPr>
              <a:t>Radome: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Subsystem function: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Provide a visually appealing cover with minimal effect to radar signal.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Design Overview: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Housing made from RF-</a:t>
            </a:r>
            <a:r>
              <a:rPr lang="en-US" sz="1700">
                <a:solidFill>
                  <a:schemeClr val="dk1"/>
                </a:solidFill>
              </a:rPr>
              <a:t>transparent</a:t>
            </a:r>
            <a:r>
              <a:rPr lang="en-US" sz="1700">
                <a:solidFill>
                  <a:schemeClr val="dk1"/>
                </a:solidFill>
              </a:rPr>
              <a:t> materials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Proper mounting and alignment over system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02" name="Google Shape;202;g384748064b0_4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100" y="3112450"/>
            <a:ext cx="2206433" cy="16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84748064b0_4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4958" y="3112450"/>
            <a:ext cx="1654825" cy="16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84748064b0_4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7788" y="286828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42464f060_0_139"/>
          <p:cNvSpPr txBox="1"/>
          <p:nvPr/>
        </p:nvSpPr>
        <p:spPr>
          <a:xfrm>
            <a:off x="-711300" y="0"/>
            <a:ext cx="9855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Accomplishments for Power System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 				</a:t>
            </a:r>
            <a:r>
              <a:rPr lang="en-US" sz="1800">
                <a:solidFill>
                  <a:schemeClr val="dk1"/>
                </a:solidFill>
              </a:rPr>
              <a:t>Wyatt Johnson</a:t>
            </a:r>
            <a:endParaRPr/>
          </a:p>
        </p:txBody>
      </p:sp>
      <p:graphicFrame>
        <p:nvGraphicFramePr>
          <p:cNvPr id="210" name="Google Shape;210;g3842464f060_0_139"/>
          <p:cNvGraphicFramePr/>
          <p:nvPr/>
        </p:nvGraphicFramePr>
        <p:xfrm>
          <a:off x="685800" y="96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{1C88E0AE-92A7-4A59-BA11-6CABAF939E6C}</a:tableStyleId>
              </a:tblPr>
              <a:tblGrid>
                <a:gridCol w="3886200"/>
                <a:gridCol w="38862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cap="none" strike="noStrike"/>
                        <a:t>Accomplishments </a:t>
                      </a:r>
                      <a:r>
                        <a:rPr lang="en-US" sz="1350"/>
                        <a:t>for Power System</a:t>
                      </a:r>
                      <a:r>
                        <a:rPr lang="en-US" sz="1350" u="none" cap="none" strike="noStrike"/>
                        <a:t>    </a:t>
                      </a:r>
                      <a:endParaRPr sz="1050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Ongoing work/next steps</a:t>
                      </a:r>
                      <a:endParaRPr sz="1050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0950"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Selected and ordered battery and supporting components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Started PCB design in Altium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Designed boost converter using TI WEBENCH Power Designer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Build prototype using perfboard and ordered components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Characterize battery performance through testing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Review and validate PCB design with faculty advisor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g3842464f060_0_139"/>
          <p:cNvSpPr txBox="1"/>
          <p:nvPr/>
        </p:nvSpPr>
        <p:spPr>
          <a:xfrm>
            <a:off x="685800" y="2955131"/>
            <a:ext cx="7772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g3842464f060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3301" y="2817721"/>
            <a:ext cx="3011999" cy="224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842464f060_0_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00" y="2880112"/>
            <a:ext cx="5070651" cy="21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836747b86_2_1"/>
          <p:cNvSpPr txBox="1"/>
          <p:nvPr/>
        </p:nvSpPr>
        <p:spPr>
          <a:xfrm>
            <a:off x="-711300" y="0"/>
            <a:ext cx="9855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Accomplishments for Power System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 				</a:t>
            </a:r>
            <a:r>
              <a:rPr lang="en-US" sz="1800">
                <a:solidFill>
                  <a:schemeClr val="dk1"/>
                </a:solidFill>
              </a:rPr>
              <a:t>Wyatt Johnson</a:t>
            </a:r>
            <a:endParaRPr/>
          </a:p>
        </p:txBody>
      </p:sp>
      <p:pic>
        <p:nvPicPr>
          <p:cNvPr id="219" name="Google Shape;219;g39836747b86_2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8275"/>
            <a:ext cx="5262476" cy="220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9836747b86_2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25" y="3306350"/>
            <a:ext cx="4199676" cy="1732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9836747b86_2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7525" y="648275"/>
            <a:ext cx="3576699" cy="2386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9836747b86_2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0950" y="2997050"/>
            <a:ext cx="4518974" cy="22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 txBox="1"/>
          <p:nvPr>
            <p:ph type="title"/>
          </p:nvPr>
        </p:nvSpPr>
        <p:spPr>
          <a:xfrm>
            <a:off x="15875" y="653682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Project Execution &amp; Validation </a:t>
            </a:r>
            <a:endParaRPr/>
          </a:p>
        </p:txBody>
      </p:sp>
      <p:sp>
        <p:nvSpPr>
          <p:cNvPr id="228" name="Google Shape;228;p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29" name="Google Shape;229;p8"/>
          <p:cNvGraphicFramePr/>
          <p:nvPr/>
        </p:nvGraphicFramePr>
        <p:xfrm>
          <a:off x="457200" y="18538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{7BC72B5B-CD1B-44C9-83EE-C3A574B72F6F}</a:tableStyleId>
              </a:tblPr>
              <a:tblGrid>
                <a:gridCol w="1289050"/>
                <a:gridCol w="1289050"/>
                <a:gridCol w="1289050"/>
                <a:gridCol w="1289050"/>
                <a:gridCol w="1289050"/>
                <a:gridCol w="1289050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8/25 - today</a:t>
                      </a:r>
                      <a:endParaRPr b="1"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10/6</a:t>
                      </a:r>
                      <a:endParaRPr sz="105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10/20</a:t>
                      </a:r>
                      <a:endParaRPr sz="105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11/3</a:t>
                      </a:r>
                      <a:endParaRPr sz="105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11/17</a:t>
                      </a:r>
                      <a:endParaRPr sz="105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Subsystem 1</a:t>
                      </a:r>
                      <a:endParaRPr sz="10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(Owner)</a:t>
                      </a:r>
                      <a:endParaRPr b="1"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Used WEBench to select and simulate a Lipo to 3.3V DC-DC converter</a:t>
                      </a:r>
                      <a:endParaRPr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Design X</a:t>
                      </a:r>
                      <a:endParaRPr sz="105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Test X, </a:t>
                      </a:r>
                      <a:b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Design Y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Test Y</a:t>
                      </a:r>
                      <a:endParaRPr sz="105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Validate X, Y, Z</a:t>
                      </a:r>
                      <a:endParaRPr sz="900" u="none" cap="none" strike="noStrike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Subsystem 2</a:t>
                      </a:r>
                      <a:endParaRPr sz="10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(Owner)</a:t>
                      </a:r>
                      <a:endParaRPr b="1"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Acquired dev board and have blinking LED working</a:t>
                      </a:r>
                      <a:endParaRPr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Design X</a:t>
                      </a:r>
                      <a:endParaRPr sz="105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Test X, </a:t>
                      </a:r>
                      <a:b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Design Y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Test Y</a:t>
                      </a:r>
                      <a:endParaRPr sz="105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Validate X, Y, Z</a:t>
                      </a:r>
                      <a:endParaRPr sz="900" u="none" cap="none" strike="noStrike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Subsystem 3</a:t>
                      </a:r>
                      <a:endParaRPr sz="10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(Owner)</a:t>
                      </a:r>
                      <a:endParaRPr b="1"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Installed Android Studio, starting simple landing page</a:t>
                      </a:r>
                      <a:endParaRPr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Design X</a:t>
                      </a:r>
                      <a:endParaRPr sz="105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Test X, </a:t>
                      </a:r>
                      <a:b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Design Y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Test Y</a:t>
                      </a:r>
                      <a:endParaRPr sz="105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Validate X, Y, Z</a:t>
                      </a:r>
                      <a:endParaRPr sz="900" u="none" cap="none" strike="noStrike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/>
                        <a:t>Subsystem 4 (Owner)</a:t>
                      </a:r>
                      <a:endParaRPr b="1"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Installed Ardupilot Mission Planner</a:t>
                      </a:r>
                      <a:endParaRPr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Design X</a:t>
                      </a:r>
                      <a:endParaRPr sz="105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Test X, </a:t>
                      </a:r>
                      <a:b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Design Y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Test Y</a:t>
                      </a:r>
                      <a:endParaRPr sz="105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Validate X, Y, Z</a:t>
                      </a:r>
                      <a:endParaRPr sz="900" u="none" cap="none" strike="noStrike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230" name="Google Shape;230;p8"/>
          <p:cNvSpPr txBox="1"/>
          <p:nvPr/>
        </p:nvSpPr>
        <p:spPr>
          <a:xfrm>
            <a:off x="952500" y="1350510"/>
            <a:ext cx="72390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Accomplished so far and key planned engineering milestones</a:t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7141700" y="187067"/>
            <a:ext cx="19041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what needs to be completed in each subsystem by listed date … not just increasing % complete … subsystem parts designed, tested, validated by these dates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842464f060_0_193"/>
          <p:cNvSpPr txBox="1"/>
          <p:nvPr>
            <p:ph type="title"/>
          </p:nvPr>
        </p:nvSpPr>
        <p:spPr>
          <a:xfrm>
            <a:off x="457200" y="653682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Project Execution &amp; Validation </a:t>
            </a:r>
            <a:endParaRPr/>
          </a:p>
        </p:txBody>
      </p:sp>
      <p:sp>
        <p:nvSpPr>
          <p:cNvPr id="237" name="Google Shape;237;g3842464f060_0_19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38" name="Google Shape;238;g3842464f060_0_193"/>
          <p:cNvGraphicFramePr/>
          <p:nvPr/>
        </p:nvGraphicFramePr>
        <p:xfrm>
          <a:off x="642900" y="1333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{7BC72B5B-CD1B-44C9-83EE-C3A574B72F6F}</a:tableStyleId>
              </a:tblPr>
              <a:tblGrid>
                <a:gridCol w="1289050"/>
                <a:gridCol w="1289050"/>
                <a:gridCol w="1289050"/>
                <a:gridCol w="1289050"/>
                <a:gridCol w="1289050"/>
                <a:gridCol w="1289050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/>
                        <a:t>October 1st</a:t>
                      </a:r>
                      <a:endParaRPr b="1"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>
                          <a:solidFill>
                            <a:schemeClr val="dk1"/>
                          </a:solidFill>
                        </a:rPr>
                        <a:t>October 18th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>
                          <a:solidFill>
                            <a:schemeClr val="dk1"/>
                          </a:solidFill>
                        </a:rPr>
                        <a:t>(Design Blitz)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r>
                        <a:rPr b="1" lang="en-US" sz="900">
                          <a:solidFill>
                            <a:schemeClr val="dk1"/>
                          </a:solidFill>
                        </a:rPr>
                        <a:t>October 28th</a:t>
                      </a:r>
                      <a:endParaRPr sz="105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dk1"/>
                          </a:solidFill>
                        </a:rPr>
                        <a:t>November 18th</a:t>
                      </a:r>
                      <a:endParaRPr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/>
                        <a:t>December 2nd</a:t>
                      </a:r>
                      <a:endParaRPr sz="105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/>
                        <a:t>Data</a:t>
                      </a:r>
                      <a:endParaRPr sz="10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/>
                        <a:t>- Matthew Blackwell</a:t>
                      </a:r>
                      <a:endParaRPr b="1"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/>
                        <a:t>Simple ML model created using decision tree and dummy data</a:t>
                      </a:r>
                      <a:endParaRPr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Decision between decision tree/random forest or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Artificial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Neural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 Network</a:t>
                      </a:r>
                      <a:endParaRPr sz="9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25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Test with basic data for either ANN or other ML data model and obtain intended training data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/>
                        <a:t>Test obtained data with chosen ML model </a:t>
                      </a:r>
                      <a:endParaRPr sz="9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/>
                        <a:t>AI model within 5% accuracy of chosen data parameters</a:t>
                      </a:r>
                      <a:endParaRPr sz="900" u="none" cap="none" strike="noStrike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/>
                        <a:t>Physical</a:t>
                      </a:r>
                      <a:endParaRPr sz="105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/>
                        <a:t>- Wyatt Johnson</a:t>
                      </a:r>
                      <a:endParaRPr b="1" sz="9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/>
                        <a:t>Have all parts </a:t>
                      </a:r>
                      <a:r>
                        <a:rPr lang="en-US" sz="900"/>
                        <a:t>selected and working with boost converter</a:t>
                      </a:r>
                      <a:endParaRPr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PCB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designed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ordered</a:t>
                      </a:r>
                      <a:endParaRPr sz="9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Assemble </a:t>
                      </a:r>
                      <a:r>
                        <a:rPr lang="en-US" sz="900"/>
                        <a:t>initial</a:t>
                      </a:r>
                      <a:r>
                        <a:rPr lang="en-US" sz="900"/>
                        <a:t> battery pack and test basic power delivery to system</a:t>
                      </a:r>
                      <a:endParaRPr sz="9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Run </a:t>
                      </a:r>
                      <a:r>
                        <a:rPr lang="en-US" sz="900"/>
                        <a:t>extended</a:t>
                      </a:r>
                      <a:r>
                        <a:rPr lang="en-US" sz="900"/>
                        <a:t> runtime test, measure voltage </a:t>
                      </a:r>
                      <a:r>
                        <a:rPr lang="en-US" sz="900"/>
                        <a:t>stability</a:t>
                      </a:r>
                      <a:r>
                        <a:rPr lang="en-US" sz="900"/>
                        <a:t> and temp, verify standby mode</a:t>
                      </a:r>
                      <a:endParaRPr sz="9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Connect power to full system, </a:t>
                      </a:r>
                      <a:r>
                        <a:rPr lang="en-US" sz="900"/>
                        <a:t>verify </a:t>
                      </a:r>
                      <a:r>
                        <a:rPr lang="en-US" sz="900"/>
                        <a:t>status reporting to </a:t>
                      </a:r>
                      <a:r>
                        <a:rPr lang="en-US" sz="900"/>
                        <a:t>Mobile</a:t>
                      </a:r>
                      <a:r>
                        <a:rPr lang="en-US" sz="900"/>
                        <a:t> app, Final </a:t>
                      </a:r>
                      <a:r>
                        <a:rPr lang="en-US" sz="900"/>
                        <a:t>safety</a:t>
                      </a:r>
                      <a:r>
                        <a:rPr lang="en-US" sz="900"/>
                        <a:t> checks, all </a:t>
                      </a:r>
                      <a:r>
                        <a:rPr lang="en-US" sz="900"/>
                        <a:t>documentation</a:t>
                      </a:r>
                      <a:r>
                        <a:rPr lang="en-US" sz="900"/>
                        <a:t> </a:t>
                      </a:r>
                      <a:r>
                        <a:rPr lang="en-US" sz="900"/>
                        <a:t>and</a:t>
                      </a:r>
                      <a:r>
                        <a:rPr lang="en-US" sz="900"/>
                        <a:t> test reports done.</a:t>
                      </a:r>
                      <a:endParaRPr sz="9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/>
                        <a:t>Wireless</a:t>
                      </a:r>
                      <a:endParaRPr b="1"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/>
                        <a:t>- Mitch Hoffman</a:t>
                      </a:r>
                      <a:endParaRPr b="1"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/>
                        <a:t>Be able to demo AWR6843ISK and have app interface started</a:t>
                      </a:r>
                      <a:endParaRPr sz="900" u="none" cap="none" strike="noStrike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Have basic app interface and have pi able to </a:t>
                      </a:r>
                      <a:r>
                        <a:rPr lang="en-US" sz="900"/>
                        <a:t>receive</a:t>
                      </a:r>
                      <a:r>
                        <a:rPr lang="en-US" sz="900"/>
                        <a:t> data from</a:t>
                      </a:r>
                      <a:r>
                        <a:rPr lang="en-US" sz="900"/>
                        <a:t> radar</a:t>
                      </a:r>
                      <a:endParaRPr sz="9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Have app be able to </a:t>
                      </a:r>
                      <a:r>
                        <a:rPr lang="en-US" sz="900"/>
                        <a:t>receive</a:t>
                      </a:r>
                      <a:r>
                        <a:rPr lang="en-US" sz="900"/>
                        <a:t> test alerts</a:t>
                      </a:r>
                      <a:endParaRPr sz="9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H</a:t>
                      </a:r>
                      <a:r>
                        <a:rPr lang="en-US" sz="900"/>
                        <a:t>ave app interface working with the cloud</a:t>
                      </a:r>
                      <a:endParaRPr sz="9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Try to integrate with Pi</a:t>
                      </a:r>
                      <a:endParaRPr sz="9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e474e11da_0_0"/>
          <p:cNvSpPr txBox="1"/>
          <p:nvPr>
            <p:ph type="title"/>
          </p:nvPr>
        </p:nvSpPr>
        <p:spPr>
          <a:xfrm>
            <a:off x="457200" y="2309183"/>
            <a:ext cx="8229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/>
              <a:t>Questions?</a:t>
            </a:r>
            <a:endParaRPr sz="5600"/>
          </a:p>
        </p:txBody>
      </p:sp>
      <p:sp>
        <p:nvSpPr>
          <p:cNvPr id="244" name="Google Shape;244;g38e474e11da_0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7891221f4_0_0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87891221f4_0_0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87891221f4_0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Nowka, Kevin J.</dc:creator>
</cp:coreProperties>
</file>