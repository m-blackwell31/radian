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1808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8Qt07Mq1M14uI8yQa9M1A9GN0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1808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Image">
  <p:cSld name="Background Im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1169060" y="6431836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7" name="Google Shape;17;p3"/>
          <p:cNvCxnSpPr/>
          <p:nvPr/>
        </p:nvCxnSpPr>
        <p:spPr>
          <a:xfrm>
            <a:off x="11307763" y="700976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8" name="Google Shape;18;p3"/>
          <p:cNvCxnSpPr/>
          <p:nvPr/>
        </p:nvCxnSpPr>
        <p:spPr>
          <a:xfrm>
            <a:off x="21945600" y="6431836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" name="Google Shape;19;p3"/>
          <p:cNvCxnSpPr/>
          <p:nvPr/>
        </p:nvCxnSpPr>
        <p:spPr>
          <a:xfrm>
            <a:off x="32577212" y="6431836"/>
            <a:ext cx="0" cy="24886364"/>
          </a:xfrm>
          <a:prstGeom prst="straightConnector1">
            <a:avLst/>
          </a:prstGeom>
          <a:noFill/>
          <a:ln cap="flat" cmpd="tri" w="889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14400" y="6644640"/>
            <a:ext cx="9798050" cy="1487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/>
          <p:nvPr>
            <p:ph idx="2" type="pic"/>
          </p:nvPr>
        </p:nvSpPr>
        <p:spPr>
          <a:xfrm>
            <a:off x="914400" y="21843852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" name="Google Shape;22;p3"/>
          <p:cNvSpPr/>
          <p:nvPr>
            <p:ph idx="3" type="pic"/>
          </p:nvPr>
        </p:nvSpPr>
        <p:spPr>
          <a:xfrm>
            <a:off x="33046966" y="17186910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11674474" y="6644640"/>
            <a:ext cx="9798050" cy="229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22516542" y="6705600"/>
            <a:ext cx="9448423" cy="664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33046966" y="6705600"/>
            <a:ext cx="9798050" cy="9936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33046966" y="25130235"/>
            <a:ext cx="9798050" cy="425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/>
          <p:nvPr>
            <p:ph idx="8" type="chart"/>
          </p:nvPr>
        </p:nvSpPr>
        <p:spPr>
          <a:xfrm>
            <a:off x="22513521" y="14194529"/>
            <a:ext cx="9454334" cy="694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54"/>
              </a:spcBef>
              <a:spcAft>
                <a:spcPts val="0"/>
              </a:spcAft>
              <a:buClr>
                <a:schemeClr val="dk1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  <a:defRPr b="0" i="0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708"/>
              <a:buFont typeface="Arial"/>
              <a:buChar char="•"/>
              <a:defRPr b="0" i="0" sz="17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22513522" y="21847581"/>
            <a:ext cx="9417420" cy="7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0" name="Google Shape;10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0"/>
            <a:ext cx="37322118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2503724"/>
            <a:ext cx="43891201" cy="298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31470601"/>
            <a:ext cx="43891201" cy="95503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2.jp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/>
          <p:nvPr/>
        </p:nvSpPr>
        <p:spPr>
          <a:xfrm>
            <a:off x="1688825" y="1207050"/>
            <a:ext cx="40679700" cy="3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50" lIns="77925" spcFirstLastPara="1" rIns="77925" wrap="square" tIns="389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</a:rPr>
              <a:t>The RADIAN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13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</a:rPr>
              <a:t>Matthew Blackwell, Mitchell Hoffman, &amp; Wyatt Johnson</a:t>
            </a:r>
            <a:endParaRPr b="1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51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</a:rPr>
              <a:t>Dr. Ayra Menon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oblem Definition" id="34" name="Google Shape;34;p1"/>
          <p:cNvSpPr txBox="1"/>
          <p:nvPr/>
        </p:nvSpPr>
        <p:spPr>
          <a:xfrm>
            <a:off x="914400" y="7003709"/>
            <a:ext cx="9829801" cy="473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t/>
            </a:r>
            <a:endParaRPr b="0" i="0" sz="2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1107688" y="6932975"/>
            <a:ext cx="9667800" cy="57135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2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Falls are the leading cause of injury in elderly </a:t>
            </a:r>
            <a:r>
              <a:rPr lang="en-US" sz="3200">
                <a:solidFill>
                  <a:schemeClr val="dk1"/>
                </a:solidFill>
              </a:rPr>
              <a:t>individuals</a:t>
            </a:r>
            <a:r>
              <a:rPr lang="en-US" sz="3200">
                <a:solidFill>
                  <a:schemeClr val="dk1"/>
                </a:solidFill>
              </a:rPr>
              <a:t>. </a:t>
            </a:r>
            <a:r>
              <a:rPr lang="en-US" sz="3200">
                <a:solidFill>
                  <a:schemeClr val="dk1"/>
                </a:solidFill>
              </a:rPr>
              <a:t>Many</a:t>
            </a:r>
            <a:r>
              <a:rPr lang="en-US" sz="3200">
                <a:solidFill>
                  <a:schemeClr val="dk1"/>
                </a:solidFill>
              </a:rPr>
              <a:t> current COTS systems are </a:t>
            </a:r>
            <a:r>
              <a:rPr lang="en-US" sz="3200">
                <a:solidFill>
                  <a:schemeClr val="dk1"/>
                </a:solidFill>
              </a:rPr>
              <a:t>invasive, such as a camera, or require user input, such as a life-alert press or donning a smart device. RADIAN attempts to solve these challenges through a radar-based system and a machine learning model.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968314" y="12592991"/>
            <a:ext cx="9256800" cy="125178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200" u="sng">
                <a:solidFill>
                  <a:srgbClr val="5D0025"/>
                </a:solidFill>
              </a:rPr>
              <a:t>Design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The RADIAN system is broken up into 3 </a:t>
            </a:r>
            <a:r>
              <a:rPr lang="en-US" sz="2600">
                <a:solidFill>
                  <a:schemeClr val="dk1"/>
                </a:solidFill>
              </a:rPr>
              <a:t>separate</a:t>
            </a:r>
            <a:r>
              <a:rPr lang="en-US" sz="2600">
                <a:solidFill>
                  <a:schemeClr val="dk1"/>
                </a:solidFill>
              </a:rPr>
              <a:t> systems to solve the challenges present with current fall detection solutions. The RADIAN system will automatically detect falls in real time with minimal user </a:t>
            </a:r>
            <a:r>
              <a:rPr lang="en-US" sz="2600">
                <a:solidFill>
                  <a:schemeClr val="dk1"/>
                </a:solidFill>
              </a:rPr>
              <a:t>input, preserve privacy, and send an immediate and accurate notification alert to caregivers.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600">
                <a:solidFill>
                  <a:schemeClr val="dk2"/>
                </a:solidFill>
              </a:rPr>
              <a:t>Physical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Power distribution and charging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Enclosure and stand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System Pipeline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</a:rPr>
              <a:t>Data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Machine Learning model (ExpertTrees)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Sending notification to Gotify Server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System Pipeline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</a:rPr>
              <a:t>Wireless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Radar configuration and parsing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Setting up Gotify Server</a:t>
            </a:r>
            <a:endParaRPr sz="26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600">
                <a:solidFill>
                  <a:schemeClr val="dk1"/>
                </a:solidFill>
              </a:rPr>
              <a:t>RADIAN Application on personal device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81831" y="30631525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1. </a:t>
            </a:r>
            <a:r>
              <a:rPr i="1" lang="en-US" sz="2800">
                <a:solidFill>
                  <a:schemeClr val="dk1"/>
                </a:solidFill>
              </a:rPr>
              <a:t>Full System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1667346" y="6932976"/>
            <a:ext cx="9499800" cy="51504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Engineering Analysis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400">
                <a:solidFill>
                  <a:srgbClr val="5D0025"/>
                </a:solidFill>
              </a:rPr>
              <a:t>Model </a:t>
            </a:r>
            <a:r>
              <a:rPr b="1" lang="en-US" sz="3400">
                <a:solidFill>
                  <a:srgbClr val="5D0025"/>
                </a:solidFill>
              </a:rPr>
              <a:t>Performance</a:t>
            </a:r>
            <a:r>
              <a:rPr b="1" lang="en-US" sz="3400">
                <a:solidFill>
                  <a:srgbClr val="5D0025"/>
                </a:solidFill>
              </a:rPr>
              <a:t>:</a:t>
            </a:r>
            <a:endParaRPr b="1" sz="3400">
              <a:solidFill>
                <a:srgbClr val="5D0025"/>
              </a:solidFill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Through </a:t>
            </a:r>
            <a:r>
              <a:rPr lang="en-US" sz="2700">
                <a:solidFill>
                  <a:schemeClr val="dk1"/>
                </a:solidFill>
              </a:rPr>
              <a:t>meticulous</a:t>
            </a:r>
            <a:r>
              <a:rPr lang="en-US" sz="2700">
                <a:solidFill>
                  <a:schemeClr val="dk1"/>
                </a:solidFill>
              </a:rPr>
              <a:t> training, testing, retraining, and validation, the RADIAN team was able to create a model that had: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Precision at 0.96, Recall at 0.99, and Accuracy at 0.98 at a threshold of 0.48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descr="Chart Description Border" id="39" name="Google Shape;39;p1"/>
          <p:cNvSpPr/>
          <p:nvPr/>
        </p:nvSpPr>
        <p:spPr>
          <a:xfrm>
            <a:off x="17658090" y="15705536"/>
            <a:ext cx="249237" cy="980380"/>
          </a:xfrm>
          <a:custGeom>
            <a:rect b="b" l="l" r="r" t="t"/>
            <a:pathLst>
              <a:path extrusionOk="0" h="1641711" w="387439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t/>
            </a:r>
            <a:endParaRPr b="0" i="0" sz="6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rt Description Border" id="40" name="Google Shape;40;p1"/>
          <p:cNvSpPr/>
          <p:nvPr/>
        </p:nvSpPr>
        <p:spPr>
          <a:xfrm rot="10800000">
            <a:off x="19982190" y="15720452"/>
            <a:ext cx="249237" cy="980381"/>
          </a:xfrm>
          <a:custGeom>
            <a:rect b="b" l="l" r="r" t="t"/>
            <a:pathLst>
              <a:path extrusionOk="0" h="1641711" w="387439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t/>
            </a:r>
            <a:endParaRPr b="0" i="0" sz="6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1683070" y="18405610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</a:t>
            </a:r>
            <a:r>
              <a:rPr i="1" lang="en-US" sz="2800">
                <a:solidFill>
                  <a:schemeClr val="dk1"/>
                </a:solidFill>
              </a:rPr>
              <a:t> Graph of Precision, Accuracy, and Recall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22427675" y="14478900"/>
            <a:ext cx="9421200" cy="27603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Achieved real-time fall detection, with a real-world fall accuracy of ~75% and an alert rate of 100% within 1 second at any range.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22427686" y="24458505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4. </a:t>
            </a:r>
            <a:r>
              <a:rPr i="1" lang="en-US" sz="2800">
                <a:solidFill>
                  <a:schemeClr val="dk1"/>
                </a:solidFill>
              </a:rPr>
              <a:t>System-level Pipeline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22331162" y="25400870"/>
            <a:ext cx="9388200" cy="54795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Implemented real-time detection pipeline, processing radar data and triggering alerts with minimal latency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Developed a fully functional radar-based fall detection system </a:t>
            </a:r>
            <a:r>
              <a:rPr lang="en-US" sz="2800">
                <a:solidFill>
                  <a:schemeClr val="dk1"/>
                </a:solidFill>
              </a:rPr>
              <a:t>integrating</a:t>
            </a:r>
            <a:r>
              <a:rPr lang="en-US" sz="2800">
                <a:solidFill>
                  <a:schemeClr val="dk1"/>
                </a:solidFill>
              </a:rPr>
              <a:t> sensing, machine learning, and wireless communication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Successfully differentiated falls from normal </a:t>
            </a:r>
            <a:r>
              <a:rPr lang="en-US" sz="2800">
                <a:solidFill>
                  <a:schemeClr val="dk1"/>
                </a:solidFill>
              </a:rPr>
              <a:t>activities</a:t>
            </a:r>
            <a:r>
              <a:rPr lang="en-US" sz="2800">
                <a:solidFill>
                  <a:schemeClr val="dk1"/>
                </a:solidFill>
              </a:rPr>
              <a:t> such as walking, sitting and standing using </a:t>
            </a:r>
            <a:r>
              <a:rPr lang="en-US" sz="2800">
                <a:solidFill>
                  <a:schemeClr val="dk1"/>
                </a:solidFill>
              </a:rPr>
              <a:t>spatial</a:t>
            </a:r>
            <a:r>
              <a:rPr lang="en-US" sz="2800">
                <a:solidFill>
                  <a:schemeClr val="dk1"/>
                </a:solidFill>
              </a:rPr>
              <a:t> and statistical features.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33059467" y="13569842"/>
            <a:ext cx="9421200" cy="19395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The RADIAN system is a student-designed non-invasive, </a:t>
            </a:r>
            <a:r>
              <a:rPr lang="en-US" sz="2800">
                <a:solidFill>
                  <a:schemeClr val="dk1"/>
                </a:solidFill>
              </a:rPr>
              <a:t>privacy-preserving solution that eliminates the need for cameras or wearable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32988992" y="15664180"/>
            <a:ext cx="9562200" cy="85017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The RADIAN system provides peace of mind for </a:t>
            </a:r>
            <a:r>
              <a:rPr lang="en-US" sz="2800">
                <a:solidFill>
                  <a:schemeClr val="dk1"/>
                </a:solidFill>
              </a:rPr>
              <a:t>elderly</a:t>
            </a:r>
            <a:r>
              <a:rPr lang="en-US" sz="2800">
                <a:solidFill>
                  <a:schemeClr val="dk1"/>
                </a:solidFill>
              </a:rPr>
              <a:t> individuals and their families by ensuring rapid response in the event of a fall. Through this design, the RADIAN team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Provides a </a:t>
            </a:r>
            <a:r>
              <a:rPr lang="en-US" sz="2800">
                <a:solidFill>
                  <a:schemeClr val="dk1"/>
                </a:solidFill>
              </a:rPr>
              <a:t>scalable</a:t>
            </a:r>
            <a:r>
              <a:rPr lang="en-US" sz="2800">
                <a:solidFill>
                  <a:schemeClr val="dk1"/>
                </a:solidFill>
              </a:rPr>
              <a:t> solution that can be deployed in homes, assisted living facilities, and hospitals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Reduces </a:t>
            </a:r>
            <a:r>
              <a:rPr lang="en-US" sz="2800">
                <a:solidFill>
                  <a:schemeClr val="dk1"/>
                </a:solidFill>
              </a:rPr>
              <a:t>response</a:t>
            </a:r>
            <a:r>
              <a:rPr lang="en-US" sz="2800">
                <a:solidFill>
                  <a:schemeClr val="dk1"/>
                </a:solidFill>
              </a:rPr>
              <a:t> time to falls, allowing the caregivers to be notified immediately and potentially preventing serious injury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Demonstrates</a:t>
            </a:r>
            <a:r>
              <a:rPr lang="en-US" sz="2800">
                <a:solidFill>
                  <a:schemeClr val="dk1"/>
                </a:solidFill>
              </a:rPr>
              <a:t> the viability of the </a:t>
            </a:r>
            <a:r>
              <a:rPr lang="en-US" sz="2800">
                <a:solidFill>
                  <a:schemeClr val="dk1"/>
                </a:solidFill>
              </a:rPr>
              <a:t>combination</a:t>
            </a:r>
            <a:r>
              <a:rPr lang="en-US" sz="2800">
                <a:solidFill>
                  <a:schemeClr val="dk1"/>
                </a:solidFill>
              </a:rPr>
              <a:t> of radar-based sensing and machine learning for real-world healthcare applications 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47" name="Google Shape;47;p1"/>
          <p:cNvCxnSpPr/>
          <p:nvPr/>
        </p:nvCxnSpPr>
        <p:spPr>
          <a:xfrm>
            <a:off x="33028817" y="25028700"/>
            <a:ext cx="948251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" name="Google Shape;48;p1"/>
          <p:cNvSpPr txBox="1"/>
          <p:nvPr/>
        </p:nvSpPr>
        <p:spPr>
          <a:xfrm>
            <a:off x="32974233" y="25400882"/>
            <a:ext cx="9917100" cy="31605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4000" u="sng" cap="none" strike="noStrike">
              <a:solidFill>
                <a:srgbClr val="5D00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270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TI AWR6843ISK mmWave Sensor Datasheet, Texas Instruments, 2021</a:t>
            </a:r>
            <a:endParaRPr sz="2200">
              <a:solidFill>
                <a:schemeClr val="dk1"/>
              </a:solidFill>
            </a:endParaRPr>
          </a:p>
          <a:p>
            <a:pPr indent="1270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Pedregosa et al., "Scikit-learn: Machine Learning in Python," JMLR, 2011</a:t>
            </a:r>
            <a:endParaRPr sz="2200">
              <a:solidFill>
                <a:schemeClr val="dk1"/>
              </a:solidFill>
            </a:endParaRPr>
          </a:p>
          <a:p>
            <a:pPr indent="1270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Gotify Server Documentation, gotify.net</a:t>
            </a:r>
            <a:endParaRPr sz="2200">
              <a:solidFill>
                <a:schemeClr val="dk1"/>
              </a:solidFill>
            </a:endParaRPr>
          </a:p>
          <a:p>
            <a:pPr indent="1270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TI mmWave SDK User Guide, Texas Instruments, 2021</a:t>
            </a:r>
            <a:endParaRPr sz="2200">
              <a:solidFill>
                <a:schemeClr val="dk1"/>
              </a:solidFill>
            </a:endParaRPr>
          </a:p>
          <a:p>
            <a:pPr indent="1270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Raspberry Pi 3 Model B+ Specifications, Raspberry Pi Foundation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32850708" y="28606221"/>
            <a:ext cx="10705800" cy="27783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4000" u="sng" cap="none" strike="noStrike">
              <a:solidFill>
                <a:srgbClr val="5D00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The RADIAN team would like to thank Dr. Ayra Menon, Roman Venagas, and Manoj Kumar Balamurugan for their guidance throughout this project, as well as the Texas A&amp;M Department of Electrical and Computer Engineering for providing lab resources and support.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4275" y="25738470"/>
            <a:ext cx="1909669" cy="423599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" name="Google Shape;5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825" y="25753637"/>
            <a:ext cx="5505719" cy="4058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gnal (Provided by Getty Images)" id="52" name="Google Shape;5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002580">
            <a:off x="6786552" y="25836505"/>
            <a:ext cx="483545" cy="48354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11576496" y="19121376"/>
            <a:ext cx="9499800" cy="42525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400">
                <a:solidFill>
                  <a:srgbClr val="5D0025"/>
                </a:solidFill>
              </a:rPr>
              <a:t>Threshold Tradeoff:</a:t>
            </a:r>
            <a:endParaRPr b="1" sz="3400">
              <a:solidFill>
                <a:srgbClr val="5D0025"/>
              </a:solidFill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The RADIAN team found that a </a:t>
            </a:r>
            <a:r>
              <a:rPr lang="en-US" sz="2700">
                <a:solidFill>
                  <a:schemeClr val="dk1"/>
                </a:solidFill>
              </a:rPr>
              <a:t>threshold of 0.90 led to fewer false positives, but struggled to detect falls overall. They found that a threshold of 0.48 led to better fall detection, but many more false positives, leading to the chosen 0.70 threshold.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1576509" y="23591951"/>
            <a:ext cx="9499800" cy="76665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400">
                <a:solidFill>
                  <a:srgbClr val="5D0025"/>
                </a:solidFill>
              </a:rPr>
              <a:t>Key Features:</a:t>
            </a:r>
            <a:endParaRPr b="1" sz="3400">
              <a:solidFill>
                <a:srgbClr val="5D0025"/>
              </a:solidFill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Z-height features were the strongest predictors in the RADIAN ML model, where falls are characterized by a rapid </a:t>
            </a:r>
            <a:r>
              <a:rPr lang="en-US" sz="2700">
                <a:solidFill>
                  <a:schemeClr val="dk1"/>
                </a:solidFill>
              </a:rPr>
              <a:t>decrease in vertical body position. Point density is also heavily considered, where the number of points changes during a fall, indicating body compression and posture change. Velocity features were less dominant, showing that the model learned that motion alone does not constitute a fall. Overall, the model relies more on spatial posture changes than on motion alone, aligning with the physical characteristics of a fall. 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55" name="Google Shape;55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28950" y="6351500"/>
            <a:ext cx="9099836" cy="678645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22411795" y="13429160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3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n-US" sz="2800">
                <a:solidFill>
                  <a:schemeClr val="dk1"/>
                </a:solidFill>
              </a:rPr>
              <a:t> Graph of Top 15 Feature Importances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4784350" y="6351500"/>
            <a:ext cx="683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FIGURE HERE</a:t>
            </a:r>
            <a:endParaRPr sz="4800"/>
          </a:p>
        </p:txBody>
      </p:sp>
      <p:pic>
        <p:nvPicPr>
          <p:cNvPr id="58" name="Google Shape;58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85475" y="0"/>
            <a:ext cx="5505725" cy="550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"/>
          <p:cNvGrpSpPr/>
          <p:nvPr/>
        </p:nvGrpSpPr>
        <p:grpSpPr>
          <a:xfrm>
            <a:off x="24802946" y="17456835"/>
            <a:ext cx="4459402" cy="6786674"/>
            <a:chOff x="2738425" y="254025"/>
            <a:chExt cx="3738600" cy="5689700"/>
          </a:xfrm>
        </p:grpSpPr>
        <p:sp>
          <p:nvSpPr>
            <p:cNvPr id="60" name="Google Shape;60;p1"/>
            <p:cNvSpPr/>
            <p:nvPr/>
          </p:nvSpPr>
          <p:spPr>
            <a:xfrm>
              <a:off x="2738425" y="254025"/>
              <a:ext cx="3738600" cy="10161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841650" y="472425"/>
              <a:ext cx="587400" cy="579300"/>
            </a:xfrm>
            <a:prstGeom prst="ellipse">
              <a:avLst/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62" name="Google Shape;62;p1"/>
            <p:cNvSpPr txBox="1"/>
            <p:nvPr/>
          </p:nvSpPr>
          <p:spPr>
            <a:xfrm>
              <a:off x="3004400" y="619125"/>
              <a:ext cx="26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0"/>
                <a:t>1</a:t>
              </a:r>
              <a:endParaRPr sz="1670"/>
            </a:p>
          </p:txBody>
        </p:sp>
        <p:sp>
          <p:nvSpPr>
            <p:cNvPr id="63" name="Google Shape;63;p1"/>
            <p:cNvSpPr txBox="1"/>
            <p:nvPr/>
          </p:nvSpPr>
          <p:spPr>
            <a:xfrm>
              <a:off x="3508425" y="400875"/>
              <a:ext cx="28179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70"/>
                <a:t>mmWave Radar</a:t>
              </a:r>
              <a:endParaRPr b="1" sz="167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9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3"/>
                <a:t>TI AWR6843ISK</a:t>
              </a:r>
              <a:endParaRPr sz="1193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2738425" y="1422425"/>
              <a:ext cx="3738600" cy="10161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2841650" y="1640825"/>
              <a:ext cx="587400" cy="579300"/>
            </a:xfrm>
            <a:prstGeom prst="ellipse">
              <a:avLst/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66" name="Google Shape;66;p1"/>
            <p:cNvSpPr txBox="1"/>
            <p:nvPr/>
          </p:nvSpPr>
          <p:spPr>
            <a:xfrm>
              <a:off x="3004400" y="1787525"/>
              <a:ext cx="26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0"/>
                <a:t>2</a:t>
              </a:r>
              <a:endParaRPr sz="1670"/>
            </a:p>
          </p:txBody>
        </p:sp>
        <p:sp>
          <p:nvSpPr>
            <p:cNvPr id="67" name="Google Shape;67;p1"/>
            <p:cNvSpPr txBox="1"/>
            <p:nvPr/>
          </p:nvSpPr>
          <p:spPr>
            <a:xfrm>
              <a:off x="3508425" y="1569275"/>
              <a:ext cx="28179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70"/>
                <a:t>UART Parser</a:t>
              </a:r>
              <a:endParaRPr b="1" sz="167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9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3"/>
                <a:t>Point cloud decode and Clustering</a:t>
              </a:r>
              <a:endParaRPr sz="1193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2738425" y="2590825"/>
              <a:ext cx="3738600" cy="10161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841650" y="2809225"/>
              <a:ext cx="587400" cy="579300"/>
            </a:xfrm>
            <a:prstGeom prst="ellipse">
              <a:avLst/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70" name="Google Shape;70;p1"/>
            <p:cNvSpPr txBox="1"/>
            <p:nvPr/>
          </p:nvSpPr>
          <p:spPr>
            <a:xfrm>
              <a:off x="3004400" y="2955925"/>
              <a:ext cx="26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0"/>
                <a:t>3</a:t>
              </a:r>
              <a:endParaRPr sz="1670"/>
            </a:p>
          </p:txBody>
        </p:sp>
        <p:sp>
          <p:nvSpPr>
            <p:cNvPr id="71" name="Google Shape;71;p1"/>
            <p:cNvSpPr txBox="1"/>
            <p:nvPr/>
          </p:nvSpPr>
          <p:spPr>
            <a:xfrm>
              <a:off x="3508425" y="2737675"/>
              <a:ext cx="28179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70"/>
                <a:t>Feature Extraction</a:t>
              </a:r>
              <a:endParaRPr b="1" sz="167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9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3"/>
                <a:t>289 features including z-drop and v-spike</a:t>
              </a:r>
              <a:endParaRPr sz="1193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2738425" y="3759225"/>
              <a:ext cx="3738600" cy="10161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2841650" y="3977625"/>
              <a:ext cx="587400" cy="579300"/>
            </a:xfrm>
            <a:prstGeom prst="ellipse">
              <a:avLst/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74" name="Google Shape;74;p1"/>
            <p:cNvSpPr txBox="1"/>
            <p:nvPr/>
          </p:nvSpPr>
          <p:spPr>
            <a:xfrm>
              <a:off x="3004400" y="4124325"/>
              <a:ext cx="26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0"/>
                <a:t>4</a:t>
              </a:r>
              <a:endParaRPr sz="1670"/>
            </a:p>
          </p:txBody>
        </p:sp>
        <p:sp>
          <p:nvSpPr>
            <p:cNvPr id="75" name="Google Shape;75;p1"/>
            <p:cNvSpPr txBox="1"/>
            <p:nvPr/>
          </p:nvSpPr>
          <p:spPr>
            <a:xfrm>
              <a:off x="3508425" y="3906075"/>
              <a:ext cx="28179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70"/>
                <a:t>ML Inference</a:t>
              </a:r>
              <a:endParaRPr b="1" sz="167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9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3"/>
                <a:t>ExtraTrees, Sliding Window, and 32 FPS</a:t>
              </a:r>
              <a:endParaRPr sz="1193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2738425" y="4927625"/>
              <a:ext cx="3738600" cy="10161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2841650" y="5146025"/>
              <a:ext cx="587400" cy="579300"/>
            </a:xfrm>
            <a:prstGeom prst="ellipse">
              <a:avLst/>
            </a:prstGeom>
            <a:solidFill>
              <a:srgbClr val="CFE2F3"/>
            </a:solidFill>
            <a:ln cap="flat" cmpd="sng" w="11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0"/>
            </a:p>
          </p:txBody>
        </p:sp>
        <p:sp>
          <p:nvSpPr>
            <p:cNvPr id="78" name="Google Shape;78;p1"/>
            <p:cNvSpPr txBox="1"/>
            <p:nvPr/>
          </p:nvSpPr>
          <p:spPr>
            <a:xfrm>
              <a:off x="3004400" y="5292725"/>
              <a:ext cx="26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70"/>
                <a:t>5</a:t>
              </a:r>
              <a:endParaRPr sz="1670"/>
            </a:p>
          </p:txBody>
        </p:sp>
        <p:sp>
          <p:nvSpPr>
            <p:cNvPr id="79" name="Google Shape;79;p1"/>
            <p:cNvSpPr txBox="1"/>
            <p:nvPr/>
          </p:nvSpPr>
          <p:spPr>
            <a:xfrm>
              <a:off x="3508425" y="5074475"/>
              <a:ext cx="2817900" cy="7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9025" lIns="109025" spcFirstLastPara="1" rIns="109025" wrap="square" tIns="10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70"/>
                <a:t>Alert System</a:t>
              </a:r>
              <a:endParaRPr b="1" sz="167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9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3"/>
                <a:t>GPIO Buzzer, Gotify push notifications, CSV Logging</a:t>
              </a:r>
              <a:endParaRPr sz="1193"/>
            </a:p>
          </p:txBody>
        </p:sp>
      </p:grpSp>
      <p:pic>
        <p:nvPicPr>
          <p:cNvPr id="80" name="Google Shape;80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11125" y="12233913"/>
            <a:ext cx="8830537" cy="60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74524" y="6203412"/>
            <a:ext cx="8258151" cy="64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33017870" y="12848498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4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n-US" sz="2800">
                <a:solidFill>
                  <a:schemeClr val="dk1"/>
                </a:solidFill>
              </a:rPr>
              <a:t> </a:t>
            </a:r>
            <a:r>
              <a:rPr i="1" lang="en-US" sz="2800">
                <a:solidFill>
                  <a:schemeClr val="dk1"/>
                </a:solidFill>
              </a:rPr>
              <a:t>Fall vs. Non-Fall Probability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2016-09-29T18:43:16Z</dcterms:created>
  <dc:creator>Lagoudas, Magdalini Z</dc:creator>
</cp:coreProperties>
</file>